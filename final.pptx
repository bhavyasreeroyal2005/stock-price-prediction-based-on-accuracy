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62" r:id="rId2"/>
    <p:sldId id="256" r:id="rId3"/>
    <p:sldId id="276" r:id="rId4"/>
    <p:sldId id="263" r:id="rId5"/>
    <p:sldId id="257" r:id="rId6"/>
    <p:sldId id="259" r:id="rId7"/>
    <p:sldId id="265" r:id="rId8"/>
    <p:sldId id="277" r:id="rId9"/>
    <p:sldId id="266" r:id="rId10"/>
    <p:sldId id="267" r:id="rId11"/>
    <p:sldId id="270" r:id="rId12"/>
    <p:sldId id="271" r:id="rId13"/>
    <p:sldId id="268" r:id="rId14"/>
    <p:sldId id="269" r:id="rId15"/>
    <p:sldId id="272" r:id="rId16"/>
    <p:sldId id="260" r:id="rId17"/>
    <p:sldId id="273" r:id="rId18"/>
    <p:sldId id="274" r:id="rId19"/>
    <p:sldId id="275" r:id="rId20"/>
    <p:sldId id="279" r:id="rId21"/>
    <p:sldId id="27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41" autoAdjust="0"/>
  </p:normalViewPr>
  <p:slideViewPr>
    <p:cSldViewPr snapToGrid="0">
      <p:cViewPr varScale="1">
        <p:scale>
          <a:sx n="82" d="100"/>
          <a:sy n="82" d="100"/>
        </p:scale>
        <p:origin x="720" y="72"/>
      </p:cViewPr>
      <p:guideLst>
        <p:guide orient="horz" pos="2160"/>
        <p:guide pos="3840"/>
      </p:guideLst>
    </p:cSldViewPr>
  </p:slideViewPr>
  <p:outlineViewPr>
    <p:cViewPr>
      <p:scale>
        <a:sx n="33" d="100"/>
        <a:sy n="33" d="100"/>
      </p:scale>
      <p:origin x="0" y="-5198"/>
    </p:cViewPr>
  </p:outlineViewPr>
  <p:notesTextViewPr>
    <p:cViewPr>
      <p:scale>
        <a:sx n="1" d="1"/>
        <a:sy n="1" d="1"/>
      </p:scale>
      <p:origin x="0" y="0"/>
    </p:cViewPr>
  </p:notesTextViewPr>
  <p:sorterViewPr>
    <p:cViewPr>
      <p:scale>
        <a:sx n="100" d="100"/>
        <a:sy n="100" d="100"/>
      </p:scale>
      <p:origin x="0" y="-3413"/>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ADDD524-7418-4254-ACC4-C64D0A286A4D}" type="doc">
      <dgm:prSet loTypeId="urn:microsoft.com/office/officeart/2005/8/layout/hList1" loCatId="list" qsTypeId="urn:microsoft.com/office/officeart/2005/8/quickstyle/simple1" qsCatId="simple" csTypeId="urn:microsoft.com/office/officeart/2005/8/colors/colorful4" csCatId="colorful" phldr="1"/>
      <dgm:spPr/>
      <dgm:t>
        <a:bodyPr/>
        <a:lstStyle/>
        <a:p>
          <a:endParaRPr lang="en-IN"/>
        </a:p>
      </dgm:t>
    </dgm:pt>
    <dgm:pt modelId="{7B079CB1-5463-43D6-8090-2AEE3BCD112B}" type="pres">
      <dgm:prSet presAssocID="{BADDD524-7418-4254-ACC4-C64D0A286A4D}" presName="Name0" presStyleCnt="0">
        <dgm:presLayoutVars>
          <dgm:dir/>
          <dgm:animLvl val="lvl"/>
          <dgm:resizeHandles val="exact"/>
        </dgm:presLayoutVars>
      </dgm:prSet>
      <dgm:spPr/>
    </dgm:pt>
  </dgm:ptLst>
  <dgm:cxnLst>
    <dgm:cxn modelId="{A2046FBD-AB67-4ACE-A8C8-B79EA7599325}" type="presOf" srcId="{BADDD524-7418-4254-ACC4-C64D0A286A4D}" destId="{7B079CB1-5463-43D6-8090-2AEE3BCD112B}" srcOrd="0"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62B5E57-2FE5-4EBC-ADDC-EDCA1A55282C}" type="doc">
      <dgm:prSet loTypeId="urn:microsoft.com/office/officeart/2005/8/layout/vList6" loCatId="list" qsTypeId="urn:microsoft.com/office/officeart/2005/8/quickstyle/simple1" qsCatId="simple" csTypeId="urn:microsoft.com/office/officeart/2005/8/colors/colorful2" csCatId="colorful" phldr="1"/>
      <dgm:spPr/>
      <dgm:t>
        <a:bodyPr/>
        <a:lstStyle/>
        <a:p>
          <a:endParaRPr lang="en-IN"/>
        </a:p>
      </dgm:t>
    </dgm:pt>
    <dgm:pt modelId="{50283390-0115-4F9D-A127-F3E5EF685DB7}">
      <dgm:prSet phldrT="[Text]"/>
      <dgm:spPr/>
      <dgm:t>
        <a:bodyPr/>
        <a:lstStyle/>
        <a:p>
          <a:r>
            <a:rPr lang="en-IN" dirty="0"/>
            <a:t>Data collection</a:t>
          </a:r>
        </a:p>
      </dgm:t>
    </dgm:pt>
    <dgm:pt modelId="{DAE7966A-82BC-4DD9-B4A9-056AB7E7AB85}" type="parTrans" cxnId="{61E56EC6-8520-4BE1-9D3D-0F9078A56986}">
      <dgm:prSet/>
      <dgm:spPr/>
      <dgm:t>
        <a:bodyPr/>
        <a:lstStyle/>
        <a:p>
          <a:endParaRPr lang="en-IN"/>
        </a:p>
      </dgm:t>
    </dgm:pt>
    <dgm:pt modelId="{A59C06BA-5A23-4E47-9834-4F9D2BA4AB1D}" type="sibTrans" cxnId="{61E56EC6-8520-4BE1-9D3D-0F9078A56986}">
      <dgm:prSet/>
      <dgm:spPr/>
      <dgm:t>
        <a:bodyPr/>
        <a:lstStyle/>
        <a:p>
          <a:endParaRPr lang="en-IN"/>
        </a:p>
      </dgm:t>
    </dgm:pt>
    <dgm:pt modelId="{B8649AB7-0074-496A-9BCA-91C898F86B7E}">
      <dgm:prSet phldrT="[Text]"/>
      <dgm:spPr/>
      <dgm:t>
        <a:bodyPr/>
        <a:lstStyle/>
        <a:p>
          <a:r>
            <a:rPr lang="en-US" dirty="0"/>
            <a:t>Collect historical stock price data.</a:t>
          </a:r>
          <a:endParaRPr lang="en-IN" dirty="0"/>
        </a:p>
      </dgm:t>
    </dgm:pt>
    <dgm:pt modelId="{B0F9A803-22D9-41F6-AE2D-6485B79FDCC3}" type="parTrans" cxnId="{21D1AD73-318A-4F27-A037-D507C48542F3}">
      <dgm:prSet/>
      <dgm:spPr/>
      <dgm:t>
        <a:bodyPr/>
        <a:lstStyle/>
        <a:p>
          <a:endParaRPr lang="en-IN"/>
        </a:p>
      </dgm:t>
    </dgm:pt>
    <dgm:pt modelId="{9D219865-8DC1-4A70-81F7-8590889D895E}" type="sibTrans" cxnId="{21D1AD73-318A-4F27-A037-D507C48542F3}">
      <dgm:prSet/>
      <dgm:spPr/>
      <dgm:t>
        <a:bodyPr/>
        <a:lstStyle/>
        <a:p>
          <a:endParaRPr lang="en-IN"/>
        </a:p>
      </dgm:t>
    </dgm:pt>
    <dgm:pt modelId="{4D11F397-D2F2-4232-85C9-3D2C9273BD30}">
      <dgm:prSet phldrT="[Text]"/>
      <dgm:spPr/>
      <dgm:t>
        <a:bodyPr/>
        <a:lstStyle/>
        <a:p>
          <a:r>
            <a:rPr lang="en-IN" dirty="0"/>
            <a:t>Source is downloaded from datasets.</a:t>
          </a:r>
        </a:p>
      </dgm:t>
    </dgm:pt>
    <dgm:pt modelId="{C9C7EEA5-EA59-4150-B867-9F77C7A2B65B}" type="parTrans" cxnId="{018E60E3-A94A-4B79-8574-D0F8A06A0726}">
      <dgm:prSet/>
      <dgm:spPr/>
      <dgm:t>
        <a:bodyPr/>
        <a:lstStyle/>
        <a:p>
          <a:endParaRPr lang="en-IN"/>
        </a:p>
      </dgm:t>
    </dgm:pt>
    <dgm:pt modelId="{8C0AE99E-F08E-448A-A8B5-DAED07173D5A}" type="sibTrans" cxnId="{018E60E3-A94A-4B79-8574-D0F8A06A0726}">
      <dgm:prSet/>
      <dgm:spPr/>
      <dgm:t>
        <a:bodyPr/>
        <a:lstStyle/>
        <a:p>
          <a:endParaRPr lang="en-IN"/>
        </a:p>
      </dgm:t>
    </dgm:pt>
    <dgm:pt modelId="{EA183DB1-1A5D-466D-B9C6-5B216E434FDD}">
      <dgm:prSet phldrT="[Text]"/>
      <dgm:spPr/>
      <dgm:t>
        <a:bodyPr/>
        <a:lstStyle/>
        <a:p>
          <a:r>
            <a:rPr lang="en-IN" dirty="0"/>
            <a:t>Data pre processing</a:t>
          </a:r>
        </a:p>
      </dgm:t>
    </dgm:pt>
    <dgm:pt modelId="{92D2273D-E3A3-4028-A219-F195EB5EEB10}" type="parTrans" cxnId="{D6D0F1EF-BA35-4007-9A02-8E2F762E17CD}">
      <dgm:prSet/>
      <dgm:spPr/>
      <dgm:t>
        <a:bodyPr/>
        <a:lstStyle/>
        <a:p>
          <a:endParaRPr lang="en-IN"/>
        </a:p>
      </dgm:t>
    </dgm:pt>
    <dgm:pt modelId="{409C8286-47B2-4609-8356-FE79F88CC602}" type="sibTrans" cxnId="{D6D0F1EF-BA35-4007-9A02-8E2F762E17CD}">
      <dgm:prSet/>
      <dgm:spPr/>
      <dgm:t>
        <a:bodyPr/>
        <a:lstStyle/>
        <a:p>
          <a:endParaRPr lang="en-IN"/>
        </a:p>
      </dgm:t>
    </dgm:pt>
    <dgm:pt modelId="{C5081B6E-0E6E-445D-9F6F-09BCA5380199}">
      <dgm:prSet phldrT="[Text]"/>
      <dgm:spPr/>
      <dgm:t>
        <a:bodyPr/>
        <a:lstStyle/>
        <a:p>
          <a:r>
            <a:rPr lang="en-IN" dirty="0"/>
            <a:t>Checks the missing values.</a:t>
          </a:r>
        </a:p>
      </dgm:t>
    </dgm:pt>
    <dgm:pt modelId="{15C19F97-B58D-49F2-BE06-BC84FC955053}" type="parTrans" cxnId="{277B66CB-B58E-42C6-B97E-ED97BCCCDCF8}">
      <dgm:prSet/>
      <dgm:spPr/>
      <dgm:t>
        <a:bodyPr/>
        <a:lstStyle/>
        <a:p>
          <a:endParaRPr lang="en-IN"/>
        </a:p>
      </dgm:t>
    </dgm:pt>
    <dgm:pt modelId="{1A8D2664-B46E-49C2-9F94-F9FC8A1A1635}" type="sibTrans" cxnId="{277B66CB-B58E-42C6-B97E-ED97BCCCDCF8}">
      <dgm:prSet/>
      <dgm:spPr/>
      <dgm:t>
        <a:bodyPr/>
        <a:lstStyle/>
        <a:p>
          <a:endParaRPr lang="en-IN"/>
        </a:p>
      </dgm:t>
    </dgm:pt>
    <dgm:pt modelId="{DC91F31A-619E-4B09-8453-68AAD0F4F8E4}">
      <dgm:prSet phldrT="[Text]"/>
      <dgm:spPr/>
      <dgm:t>
        <a:bodyPr/>
        <a:lstStyle/>
        <a:p>
          <a:r>
            <a:rPr lang="en-IN" dirty="0"/>
            <a:t>Remove or fill missing values</a:t>
          </a:r>
        </a:p>
      </dgm:t>
    </dgm:pt>
    <dgm:pt modelId="{C8816A43-2A23-4213-8C46-84B2ADA1940B}" type="parTrans" cxnId="{970DDF9F-59EA-43D2-88F7-1A3075CB3654}">
      <dgm:prSet/>
      <dgm:spPr/>
      <dgm:t>
        <a:bodyPr/>
        <a:lstStyle/>
        <a:p>
          <a:endParaRPr lang="en-IN"/>
        </a:p>
      </dgm:t>
    </dgm:pt>
    <dgm:pt modelId="{956F4144-E425-4832-BDE6-46D8272A922F}" type="sibTrans" cxnId="{970DDF9F-59EA-43D2-88F7-1A3075CB3654}">
      <dgm:prSet/>
      <dgm:spPr/>
      <dgm:t>
        <a:bodyPr/>
        <a:lstStyle/>
        <a:p>
          <a:endParaRPr lang="en-IN"/>
        </a:p>
      </dgm:t>
    </dgm:pt>
    <dgm:pt modelId="{20CB76E3-5784-4579-9B5C-CEE2BB56ACDD}">
      <dgm:prSet/>
      <dgm:spPr/>
      <dgm:t>
        <a:bodyPr/>
        <a:lstStyle/>
        <a:p>
          <a:r>
            <a:rPr lang="en-IN" dirty="0"/>
            <a:t>Algorithm</a:t>
          </a:r>
        </a:p>
        <a:p>
          <a:r>
            <a:rPr lang="en-IN" dirty="0"/>
            <a:t>Selection</a:t>
          </a:r>
        </a:p>
      </dgm:t>
    </dgm:pt>
    <dgm:pt modelId="{154862DC-612F-421A-B90C-83B90ACDCC81}" type="parTrans" cxnId="{934543EF-6074-4B6F-94DE-19CBC0F09C25}">
      <dgm:prSet/>
      <dgm:spPr/>
      <dgm:t>
        <a:bodyPr/>
        <a:lstStyle/>
        <a:p>
          <a:endParaRPr lang="en-IN"/>
        </a:p>
      </dgm:t>
    </dgm:pt>
    <dgm:pt modelId="{FEA4A7F8-A513-429D-ACFA-561CEEE94A2D}" type="sibTrans" cxnId="{934543EF-6074-4B6F-94DE-19CBC0F09C25}">
      <dgm:prSet/>
      <dgm:spPr/>
      <dgm:t>
        <a:bodyPr/>
        <a:lstStyle/>
        <a:p>
          <a:endParaRPr lang="en-IN"/>
        </a:p>
      </dgm:t>
    </dgm:pt>
    <dgm:pt modelId="{951D25D3-A74A-4CDC-B034-1C7012676A7A}">
      <dgm:prSet/>
      <dgm:spPr/>
      <dgm:t>
        <a:bodyPr/>
        <a:lstStyle/>
        <a:p>
          <a:r>
            <a:rPr lang="en-IN" dirty="0"/>
            <a:t>Comparison</a:t>
          </a:r>
        </a:p>
      </dgm:t>
    </dgm:pt>
    <dgm:pt modelId="{1CF55D17-48A6-43DC-9281-6B0759DBAE54}" type="parTrans" cxnId="{19934E2F-47E0-4AE4-B589-2D36797FAF84}">
      <dgm:prSet/>
      <dgm:spPr/>
      <dgm:t>
        <a:bodyPr/>
        <a:lstStyle/>
        <a:p>
          <a:endParaRPr lang="en-IN"/>
        </a:p>
      </dgm:t>
    </dgm:pt>
    <dgm:pt modelId="{9084BF4F-49FD-4A7E-87A9-BF621C58787F}" type="sibTrans" cxnId="{19934E2F-47E0-4AE4-B589-2D36797FAF84}">
      <dgm:prSet/>
      <dgm:spPr/>
      <dgm:t>
        <a:bodyPr/>
        <a:lstStyle/>
        <a:p>
          <a:endParaRPr lang="en-IN"/>
        </a:p>
      </dgm:t>
    </dgm:pt>
    <dgm:pt modelId="{8F111B48-EC16-44B8-A054-F33472DB9A07}">
      <dgm:prSet/>
      <dgm:spPr/>
      <dgm:t>
        <a:bodyPr/>
        <a:lstStyle/>
        <a:p>
          <a:r>
            <a:rPr lang="en-IN" dirty="0"/>
            <a:t>It train the model.</a:t>
          </a:r>
        </a:p>
      </dgm:t>
    </dgm:pt>
    <dgm:pt modelId="{F618F65E-2597-4261-BA82-999D0E3B3D6A}" type="parTrans" cxnId="{9F58410D-4A59-49CC-801F-243B830BE138}">
      <dgm:prSet/>
      <dgm:spPr/>
      <dgm:t>
        <a:bodyPr/>
        <a:lstStyle/>
        <a:p>
          <a:endParaRPr lang="en-IN"/>
        </a:p>
      </dgm:t>
    </dgm:pt>
    <dgm:pt modelId="{286E1ECF-81E6-4E00-8047-3BF165C143FA}" type="sibTrans" cxnId="{9F58410D-4A59-49CC-801F-243B830BE138}">
      <dgm:prSet/>
      <dgm:spPr/>
      <dgm:t>
        <a:bodyPr/>
        <a:lstStyle/>
        <a:p>
          <a:endParaRPr lang="en-IN"/>
        </a:p>
      </dgm:t>
    </dgm:pt>
    <dgm:pt modelId="{47263503-5300-4BFC-ADC4-C67736E63721}">
      <dgm:prSet/>
      <dgm:spPr/>
      <dgm:t>
        <a:bodyPr/>
        <a:lstStyle/>
        <a:p>
          <a:r>
            <a:rPr lang="en-IN" dirty="0"/>
            <a:t>Selects the best algorithm based on accuracy.</a:t>
          </a:r>
        </a:p>
      </dgm:t>
    </dgm:pt>
    <dgm:pt modelId="{4D21CCCF-2DA8-4EBA-B4B6-9D81FA34D02C}" type="parTrans" cxnId="{2E02021E-991A-42A8-885C-C35CFD40811E}">
      <dgm:prSet/>
      <dgm:spPr/>
      <dgm:t>
        <a:bodyPr/>
        <a:lstStyle/>
        <a:p>
          <a:endParaRPr lang="en-IN"/>
        </a:p>
      </dgm:t>
    </dgm:pt>
    <dgm:pt modelId="{4495AF25-5B8B-4E84-9FFD-20DCA96A1437}" type="sibTrans" cxnId="{2E02021E-991A-42A8-885C-C35CFD40811E}">
      <dgm:prSet/>
      <dgm:spPr/>
      <dgm:t>
        <a:bodyPr/>
        <a:lstStyle/>
        <a:p>
          <a:endParaRPr lang="en-IN"/>
        </a:p>
      </dgm:t>
    </dgm:pt>
    <dgm:pt modelId="{90FF9195-8C4F-43BD-BAAA-20E866268374}">
      <dgm:prSet/>
      <dgm:spPr/>
      <dgm:t>
        <a:bodyPr/>
        <a:lstStyle/>
        <a:p>
          <a:r>
            <a:rPr lang="en-IN" dirty="0"/>
            <a:t>Identify the most accurate algorithm.</a:t>
          </a:r>
        </a:p>
      </dgm:t>
    </dgm:pt>
    <dgm:pt modelId="{BBCC20ED-074B-4DD4-8B0E-132449D8C416}" type="parTrans" cxnId="{FC7472BC-CA2C-4A80-BAB2-6F77054999D2}">
      <dgm:prSet/>
      <dgm:spPr/>
      <dgm:t>
        <a:bodyPr/>
        <a:lstStyle/>
        <a:p>
          <a:endParaRPr lang="en-IN"/>
        </a:p>
      </dgm:t>
    </dgm:pt>
    <dgm:pt modelId="{04A12819-5190-4428-A5FC-9F89152FA6CF}" type="sibTrans" cxnId="{FC7472BC-CA2C-4A80-BAB2-6F77054999D2}">
      <dgm:prSet/>
      <dgm:spPr/>
      <dgm:t>
        <a:bodyPr/>
        <a:lstStyle/>
        <a:p>
          <a:endParaRPr lang="en-IN"/>
        </a:p>
      </dgm:t>
    </dgm:pt>
    <dgm:pt modelId="{5AA14C96-A890-4167-BF8F-F9C0C7C9C7EA}">
      <dgm:prSet/>
      <dgm:spPr/>
      <dgm:t>
        <a:bodyPr/>
        <a:lstStyle/>
        <a:p>
          <a:r>
            <a:rPr lang="en-IN" dirty="0" err="1"/>
            <a:t>Analyze</a:t>
          </a:r>
          <a:r>
            <a:rPr lang="en-IN" dirty="0"/>
            <a:t>  differences between algorithms.</a:t>
          </a:r>
        </a:p>
      </dgm:t>
    </dgm:pt>
    <dgm:pt modelId="{AFC4F7A9-CF7A-4A3E-836C-4695A2EC50EE}" type="parTrans" cxnId="{CD394684-850E-435F-A74A-866BC177E691}">
      <dgm:prSet/>
      <dgm:spPr/>
      <dgm:t>
        <a:bodyPr/>
        <a:lstStyle/>
        <a:p>
          <a:endParaRPr lang="en-IN"/>
        </a:p>
      </dgm:t>
    </dgm:pt>
    <dgm:pt modelId="{E7284F5F-ED4A-4F70-A7AA-C94239E01A56}" type="sibTrans" cxnId="{CD394684-850E-435F-A74A-866BC177E691}">
      <dgm:prSet/>
      <dgm:spPr/>
      <dgm:t>
        <a:bodyPr/>
        <a:lstStyle/>
        <a:p>
          <a:endParaRPr lang="en-IN"/>
        </a:p>
      </dgm:t>
    </dgm:pt>
    <dgm:pt modelId="{5209E62F-0775-4800-8CDF-7E22E3AA1A2F}" type="pres">
      <dgm:prSet presAssocID="{762B5E57-2FE5-4EBC-ADDC-EDCA1A55282C}" presName="Name0" presStyleCnt="0">
        <dgm:presLayoutVars>
          <dgm:dir/>
          <dgm:animLvl val="lvl"/>
          <dgm:resizeHandles/>
        </dgm:presLayoutVars>
      </dgm:prSet>
      <dgm:spPr/>
    </dgm:pt>
    <dgm:pt modelId="{9AEC1BE7-61F2-4242-B098-7C1DF1EC823A}" type="pres">
      <dgm:prSet presAssocID="{50283390-0115-4F9D-A127-F3E5EF685DB7}" presName="linNode" presStyleCnt="0"/>
      <dgm:spPr/>
    </dgm:pt>
    <dgm:pt modelId="{E079E118-E145-419D-A4FC-283A9B61C51C}" type="pres">
      <dgm:prSet presAssocID="{50283390-0115-4F9D-A127-F3E5EF685DB7}" presName="parentShp" presStyleLbl="node1" presStyleIdx="0" presStyleCnt="4">
        <dgm:presLayoutVars>
          <dgm:bulletEnabled val="1"/>
        </dgm:presLayoutVars>
      </dgm:prSet>
      <dgm:spPr/>
    </dgm:pt>
    <dgm:pt modelId="{5EFA6097-0233-460E-BDB4-DBCF0015EEEE}" type="pres">
      <dgm:prSet presAssocID="{50283390-0115-4F9D-A127-F3E5EF685DB7}" presName="childShp" presStyleLbl="bgAccFollowNode1" presStyleIdx="0" presStyleCnt="4">
        <dgm:presLayoutVars>
          <dgm:bulletEnabled val="1"/>
        </dgm:presLayoutVars>
      </dgm:prSet>
      <dgm:spPr/>
    </dgm:pt>
    <dgm:pt modelId="{C02DC81C-B5CD-47B1-AAC7-EFB1E8D39C3A}" type="pres">
      <dgm:prSet presAssocID="{A59C06BA-5A23-4E47-9834-4F9D2BA4AB1D}" presName="spacing" presStyleCnt="0"/>
      <dgm:spPr/>
    </dgm:pt>
    <dgm:pt modelId="{AE067568-01B7-4E3B-B3D1-B90C1C39C640}" type="pres">
      <dgm:prSet presAssocID="{EA183DB1-1A5D-466D-B9C6-5B216E434FDD}" presName="linNode" presStyleCnt="0"/>
      <dgm:spPr/>
    </dgm:pt>
    <dgm:pt modelId="{8EEEB52E-BAFC-4B95-9F0C-F04E13BA864D}" type="pres">
      <dgm:prSet presAssocID="{EA183DB1-1A5D-466D-B9C6-5B216E434FDD}" presName="parentShp" presStyleLbl="node1" presStyleIdx="1" presStyleCnt="4">
        <dgm:presLayoutVars>
          <dgm:bulletEnabled val="1"/>
        </dgm:presLayoutVars>
      </dgm:prSet>
      <dgm:spPr/>
    </dgm:pt>
    <dgm:pt modelId="{9E0C9218-8914-4228-9C10-28F36D418809}" type="pres">
      <dgm:prSet presAssocID="{EA183DB1-1A5D-466D-B9C6-5B216E434FDD}" presName="childShp" presStyleLbl="bgAccFollowNode1" presStyleIdx="1" presStyleCnt="4">
        <dgm:presLayoutVars>
          <dgm:bulletEnabled val="1"/>
        </dgm:presLayoutVars>
      </dgm:prSet>
      <dgm:spPr/>
    </dgm:pt>
    <dgm:pt modelId="{96A7F53E-B70C-424A-8BFC-5BCFD3902121}" type="pres">
      <dgm:prSet presAssocID="{409C8286-47B2-4609-8356-FE79F88CC602}" presName="spacing" presStyleCnt="0"/>
      <dgm:spPr/>
    </dgm:pt>
    <dgm:pt modelId="{839AB58C-65E6-4F32-A834-B6C8C2AA7942}" type="pres">
      <dgm:prSet presAssocID="{20CB76E3-5784-4579-9B5C-CEE2BB56ACDD}" presName="linNode" presStyleCnt="0"/>
      <dgm:spPr/>
    </dgm:pt>
    <dgm:pt modelId="{5AF87DDA-7E4E-4CE9-8963-AD47AEED04DF}" type="pres">
      <dgm:prSet presAssocID="{20CB76E3-5784-4579-9B5C-CEE2BB56ACDD}" presName="parentShp" presStyleLbl="node1" presStyleIdx="2" presStyleCnt="4" custLinFactNeighborX="-169" custLinFactNeighborY="-5000">
        <dgm:presLayoutVars>
          <dgm:bulletEnabled val="1"/>
        </dgm:presLayoutVars>
      </dgm:prSet>
      <dgm:spPr/>
    </dgm:pt>
    <dgm:pt modelId="{55858ACC-6B6A-45F6-B108-AFCBB82EE31D}" type="pres">
      <dgm:prSet presAssocID="{20CB76E3-5784-4579-9B5C-CEE2BB56ACDD}" presName="childShp" presStyleLbl="bgAccFollowNode1" presStyleIdx="2" presStyleCnt="4" custLinFactNeighborX="-253" custLinFactNeighborY="-5000">
        <dgm:presLayoutVars>
          <dgm:bulletEnabled val="1"/>
        </dgm:presLayoutVars>
      </dgm:prSet>
      <dgm:spPr/>
    </dgm:pt>
    <dgm:pt modelId="{956D2617-FEC4-40EA-9564-7A5AD6CD8DBC}" type="pres">
      <dgm:prSet presAssocID="{FEA4A7F8-A513-429D-ACFA-561CEEE94A2D}" presName="spacing" presStyleCnt="0"/>
      <dgm:spPr/>
    </dgm:pt>
    <dgm:pt modelId="{019C39F0-F0B6-40C1-AA9D-A84718967CA4}" type="pres">
      <dgm:prSet presAssocID="{951D25D3-A74A-4CDC-B034-1C7012676A7A}" presName="linNode" presStyleCnt="0"/>
      <dgm:spPr/>
    </dgm:pt>
    <dgm:pt modelId="{D2B787A8-13CD-4157-B626-1B6F603D92B9}" type="pres">
      <dgm:prSet presAssocID="{951D25D3-A74A-4CDC-B034-1C7012676A7A}" presName="parentShp" presStyleLbl="node1" presStyleIdx="3" presStyleCnt="4">
        <dgm:presLayoutVars>
          <dgm:bulletEnabled val="1"/>
        </dgm:presLayoutVars>
      </dgm:prSet>
      <dgm:spPr/>
    </dgm:pt>
    <dgm:pt modelId="{6B2AA69B-6D45-458C-919F-A944850ECE0F}" type="pres">
      <dgm:prSet presAssocID="{951D25D3-A74A-4CDC-B034-1C7012676A7A}" presName="childShp" presStyleLbl="bgAccFollowNode1" presStyleIdx="3" presStyleCnt="4" custLinFactNeighborX="-253">
        <dgm:presLayoutVars>
          <dgm:bulletEnabled val="1"/>
        </dgm:presLayoutVars>
      </dgm:prSet>
      <dgm:spPr/>
    </dgm:pt>
  </dgm:ptLst>
  <dgm:cxnLst>
    <dgm:cxn modelId="{9F58410D-4A59-49CC-801F-243B830BE138}" srcId="{20CB76E3-5784-4579-9B5C-CEE2BB56ACDD}" destId="{8F111B48-EC16-44B8-A054-F33472DB9A07}" srcOrd="0" destOrd="0" parTransId="{F618F65E-2597-4261-BA82-999D0E3B3D6A}" sibTransId="{286E1ECF-81E6-4E00-8047-3BF165C143FA}"/>
    <dgm:cxn modelId="{97C99F15-405A-45BE-8925-D7CFAAAAC2A5}" type="presOf" srcId="{50283390-0115-4F9D-A127-F3E5EF685DB7}" destId="{E079E118-E145-419D-A4FC-283A9B61C51C}" srcOrd="0" destOrd="0" presId="urn:microsoft.com/office/officeart/2005/8/layout/vList6"/>
    <dgm:cxn modelId="{2E02021E-991A-42A8-885C-C35CFD40811E}" srcId="{20CB76E3-5784-4579-9B5C-CEE2BB56ACDD}" destId="{47263503-5300-4BFC-ADC4-C67736E63721}" srcOrd="1" destOrd="0" parTransId="{4D21CCCF-2DA8-4EBA-B4B6-9D81FA34D02C}" sibTransId="{4495AF25-5B8B-4E84-9FFD-20DCA96A1437}"/>
    <dgm:cxn modelId="{C50CC328-52BF-42B7-99E7-9F4186066CD6}" type="presOf" srcId="{951D25D3-A74A-4CDC-B034-1C7012676A7A}" destId="{D2B787A8-13CD-4157-B626-1B6F603D92B9}" srcOrd="0" destOrd="0" presId="urn:microsoft.com/office/officeart/2005/8/layout/vList6"/>
    <dgm:cxn modelId="{19934E2F-47E0-4AE4-B589-2D36797FAF84}" srcId="{762B5E57-2FE5-4EBC-ADDC-EDCA1A55282C}" destId="{951D25D3-A74A-4CDC-B034-1C7012676A7A}" srcOrd="3" destOrd="0" parTransId="{1CF55D17-48A6-43DC-9281-6B0759DBAE54}" sibTransId="{9084BF4F-49FD-4A7E-87A9-BF621C58787F}"/>
    <dgm:cxn modelId="{06C9AB3B-9DB4-4CAD-879C-7532E8011A91}" type="presOf" srcId="{DC91F31A-619E-4B09-8453-68AAD0F4F8E4}" destId="{9E0C9218-8914-4228-9C10-28F36D418809}" srcOrd="0" destOrd="1" presId="urn:microsoft.com/office/officeart/2005/8/layout/vList6"/>
    <dgm:cxn modelId="{04B66A3C-A1BF-4C22-A45F-1A2EE2907EEC}" type="presOf" srcId="{47263503-5300-4BFC-ADC4-C67736E63721}" destId="{55858ACC-6B6A-45F6-B108-AFCBB82EE31D}" srcOrd="0" destOrd="1" presId="urn:microsoft.com/office/officeart/2005/8/layout/vList6"/>
    <dgm:cxn modelId="{74C52F4F-88A6-4C1F-BAAF-68DD9A386079}" type="presOf" srcId="{EA183DB1-1A5D-466D-B9C6-5B216E434FDD}" destId="{8EEEB52E-BAFC-4B95-9F0C-F04E13BA864D}" srcOrd="0" destOrd="0" presId="urn:microsoft.com/office/officeart/2005/8/layout/vList6"/>
    <dgm:cxn modelId="{21D1AD73-318A-4F27-A037-D507C48542F3}" srcId="{50283390-0115-4F9D-A127-F3E5EF685DB7}" destId="{B8649AB7-0074-496A-9BCA-91C898F86B7E}" srcOrd="0" destOrd="0" parTransId="{B0F9A803-22D9-41F6-AE2D-6485B79FDCC3}" sibTransId="{9D219865-8DC1-4A70-81F7-8590889D895E}"/>
    <dgm:cxn modelId="{146F1354-4F3C-46D7-B611-B42F6F283783}" type="presOf" srcId="{20CB76E3-5784-4579-9B5C-CEE2BB56ACDD}" destId="{5AF87DDA-7E4E-4CE9-8963-AD47AEED04DF}" srcOrd="0" destOrd="0" presId="urn:microsoft.com/office/officeart/2005/8/layout/vList6"/>
    <dgm:cxn modelId="{DDFD0F82-3EB6-423A-BA50-93F11C50FEEF}" type="presOf" srcId="{90FF9195-8C4F-43BD-BAAA-20E866268374}" destId="{6B2AA69B-6D45-458C-919F-A944850ECE0F}" srcOrd="0" destOrd="0" presId="urn:microsoft.com/office/officeart/2005/8/layout/vList6"/>
    <dgm:cxn modelId="{39AEB882-ADEE-4513-8021-7A2C688E3E73}" type="presOf" srcId="{4D11F397-D2F2-4232-85C9-3D2C9273BD30}" destId="{5EFA6097-0233-460E-BDB4-DBCF0015EEEE}" srcOrd="0" destOrd="1" presId="urn:microsoft.com/office/officeart/2005/8/layout/vList6"/>
    <dgm:cxn modelId="{CD394684-850E-435F-A74A-866BC177E691}" srcId="{951D25D3-A74A-4CDC-B034-1C7012676A7A}" destId="{5AA14C96-A890-4167-BF8F-F9C0C7C9C7EA}" srcOrd="1" destOrd="0" parTransId="{AFC4F7A9-CF7A-4A3E-836C-4695A2EC50EE}" sibTransId="{E7284F5F-ED4A-4F70-A7AA-C94239E01A56}"/>
    <dgm:cxn modelId="{14C1468B-4650-4C4D-A225-54F7642BCEDF}" type="presOf" srcId="{762B5E57-2FE5-4EBC-ADDC-EDCA1A55282C}" destId="{5209E62F-0775-4800-8CDF-7E22E3AA1A2F}" srcOrd="0" destOrd="0" presId="urn:microsoft.com/office/officeart/2005/8/layout/vList6"/>
    <dgm:cxn modelId="{5A29348E-8F42-4FAA-AA89-D50EAC108256}" type="presOf" srcId="{5AA14C96-A890-4167-BF8F-F9C0C7C9C7EA}" destId="{6B2AA69B-6D45-458C-919F-A944850ECE0F}" srcOrd="0" destOrd="1" presId="urn:microsoft.com/office/officeart/2005/8/layout/vList6"/>
    <dgm:cxn modelId="{970DDF9F-59EA-43D2-88F7-1A3075CB3654}" srcId="{EA183DB1-1A5D-466D-B9C6-5B216E434FDD}" destId="{DC91F31A-619E-4B09-8453-68AAD0F4F8E4}" srcOrd="1" destOrd="0" parTransId="{C8816A43-2A23-4213-8C46-84B2ADA1940B}" sibTransId="{956F4144-E425-4832-BDE6-46D8272A922F}"/>
    <dgm:cxn modelId="{FC7472BC-CA2C-4A80-BAB2-6F77054999D2}" srcId="{951D25D3-A74A-4CDC-B034-1C7012676A7A}" destId="{90FF9195-8C4F-43BD-BAAA-20E866268374}" srcOrd="0" destOrd="0" parTransId="{BBCC20ED-074B-4DD4-8B0E-132449D8C416}" sibTransId="{04A12819-5190-4428-A5FC-9F89152FA6CF}"/>
    <dgm:cxn modelId="{61E56EC6-8520-4BE1-9D3D-0F9078A56986}" srcId="{762B5E57-2FE5-4EBC-ADDC-EDCA1A55282C}" destId="{50283390-0115-4F9D-A127-F3E5EF685DB7}" srcOrd="0" destOrd="0" parTransId="{DAE7966A-82BC-4DD9-B4A9-056AB7E7AB85}" sibTransId="{A59C06BA-5A23-4E47-9834-4F9D2BA4AB1D}"/>
    <dgm:cxn modelId="{277B66CB-B58E-42C6-B97E-ED97BCCCDCF8}" srcId="{EA183DB1-1A5D-466D-B9C6-5B216E434FDD}" destId="{C5081B6E-0E6E-445D-9F6F-09BCA5380199}" srcOrd="0" destOrd="0" parTransId="{15C19F97-B58D-49F2-BE06-BC84FC955053}" sibTransId="{1A8D2664-B46E-49C2-9F94-F9FC8A1A1635}"/>
    <dgm:cxn modelId="{3F8A7BCB-F310-47CF-8F45-4594007E7C3A}" type="presOf" srcId="{C5081B6E-0E6E-445D-9F6F-09BCA5380199}" destId="{9E0C9218-8914-4228-9C10-28F36D418809}" srcOrd="0" destOrd="0" presId="urn:microsoft.com/office/officeart/2005/8/layout/vList6"/>
    <dgm:cxn modelId="{018E60E3-A94A-4B79-8574-D0F8A06A0726}" srcId="{50283390-0115-4F9D-A127-F3E5EF685DB7}" destId="{4D11F397-D2F2-4232-85C9-3D2C9273BD30}" srcOrd="1" destOrd="0" parTransId="{C9C7EEA5-EA59-4150-B867-9F77C7A2B65B}" sibTransId="{8C0AE99E-F08E-448A-A8B5-DAED07173D5A}"/>
    <dgm:cxn modelId="{934543EF-6074-4B6F-94DE-19CBC0F09C25}" srcId="{762B5E57-2FE5-4EBC-ADDC-EDCA1A55282C}" destId="{20CB76E3-5784-4579-9B5C-CEE2BB56ACDD}" srcOrd="2" destOrd="0" parTransId="{154862DC-612F-421A-B90C-83B90ACDCC81}" sibTransId="{FEA4A7F8-A513-429D-ACFA-561CEEE94A2D}"/>
    <dgm:cxn modelId="{D6D0F1EF-BA35-4007-9A02-8E2F762E17CD}" srcId="{762B5E57-2FE5-4EBC-ADDC-EDCA1A55282C}" destId="{EA183DB1-1A5D-466D-B9C6-5B216E434FDD}" srcOrd="1" destOrd="0" parTransId="{92D2273D-E3A3-4028-A219-F195EB5EEB10}" sibTransId="{409C8286-47B2-4609-8356-FE79F88CC602}"/>
    <dgm:cxn modelId="{F17271F4-5AD3-4912-AA19-4B983CDA0851}" type="presOf" srcId="{8F111B48-EC16-44B8-A054-F33472DB9A07}" destId="{55858ACC-6B6A-45F6-B108-AFCBB82EE31D}" srcOrd="0" destOrd="0" presId="urn:microsoft.com/office/officeart/2005/8/layout/vList6"/>
    <dgm:cxn modelId="{B8A6F7F9-973C-4FA9-B6F6-186C54168FE5}" type="presOf" srcId="{B8649AB7-0074-496A-9BCA-91C898F86B7E}" destId="{5EFA6097-0233-460E-BDB4-DBCF0015EEEE}" srcOrd="0" destOrd="0" presId="urn:microsoft.com/office/officeart/2005/8/layout/vList6"/>
    <dgm:cxn modelId="{032581B2-CB9C-4AD0-A34A-E5C426B2FF5A}" type="presParOf" srcId="{5209E62F-0775-4800-8CDF-7E22E3AA1A2F}" destId="{9AEC1BE7-61F2-4242-B098-7C1DF1EC823A}" srcOrd="0" destOrd="0" presId="urn:microsoft.com/office/officeart/2005/8/layout/vList6"/>
    <dgm:cxn modelId="{4CC8985E-CD17-4CDE-998E-5EACCF67DF3D}" type="presParOf" srcId="{9AEC1BE7-61F2-4242-B098-7C1DF1EC823A}" destId="{E079E118-E145-419D-A4FC-283A9B61C51C}" srcOrd="0" destOrd="0" presId="urn:microsoft.com/office/officeart/2005/8/layout/vList6"/>
    <dgm:cxn modelId="{79139FB8-AF42-4257-87C6-998DD83A09C1}" type="presParOf" srcId="{9AEC1BE7-61F2-4242-B098-7C1DF1EC823A}" destId="{5EFA6097-0233-460E-BDB4-DBCF0015EEEE}" srcOrd="1" destOrd="0" presId="urn:microsoft.com/office/officeart/2005/8/layout/vList6"/>
    <dgm:cxn modelId="{2BCA603E-7196-4FDC-A369-32DD578511AC}" type="presParOf" srcId="{5209E62F-0775-4800-8CDF-7E22E3AA1A2F}" destId="{C02DC81C-B5CD-47B1-AAC7-EFB1E8D39C3A}" srcOrd="1" destOrd="0" presId="urn:microsoft.com/office/officeart/2005/8/layout/vList6"/>
    <dgm:cxn modelId="{051884DC-F2CD-4B3C-95A6-11F2C81EF933}" type="presParOf" srcId="{5209E62F-0775-4800-8CDF-7E22E3AA1A2F}" destId="{AE067568-01B7-4E3B-B3D1-B90C1C39C640}" srcOrd="2" destOrd="0" presId="urn:microsoft.com/office/officeart/2005/8/layout/vList6"/>
    <dgm:cxn modelId="{BD647DC7-03A6-4492-9904-44257C333BD1}" type="presParOf" srcId="{AE067568-01B7-4E3B-B3D1-B90C1C39C640}" destId="{8EEEB52E-BAFC-4B95-9F0C-F04E13BA864D}" srcOrd="0" destOrd="0" presId="urn:microsoft.com/office/officeart/2005/8/layout/vList6"/>
    <dgm:cxn modelId="{BB23E3E2-C852-4095-B8D4-CBD8EE604707}" type="presParOf" srcId="{AE067568-01B7-4E3B-B3D1-B90C1C39C640}" destId="{9E0C9218-8914-4228-9C10-28F36D418809}" srcOrd="1" destOrd="0" presId="urn:microsoft.com/office/officeart/2005/8/layout/vList6"/>
    <dgm:cxn modelId="{482C9BA5-4ED0-4B00-B882-DF172436CEF7}" type="presParOf" srcId="{5209E62F-0775-4800-8CDF-7E22E3AA1A2F}" destId="{96A7F53E-B70C-424A-8BFC-5BCFD3902121}" srcOrd="3" destOrd="0" presId="urn:microsoft.com/office/officeart/2005/8/layout/vList6"/>
    <dgm:cxn modelId="{B237BE85-5F14-4F3C-94F6-36B167707069}" type="presParOf" srcId="{5209E62F-0775-4800-8CDF-7E22E3AA1A2F}" destId="{839AB58C-65E6-4F32-A834-B6C8C2AA7942}" srcOrd="4" destOrd="0" presId="urn:microsoft.com/office/officeart/2005/8/layout/vList6"/>
    <dgm:cxn modelId="{C9315E6D-54AA-4FD7-8C86-D8CF9216E4B0}" type="presParOf" srcId="{839AB58C-65E6-4F32-A834-B6C8C2AA7942}" destId="{5AF87DDA-7E4E-4CE9-8963-AD47AEED04DF}" srcOrd="0" destOrd="0" presId="urn:microsoft.com/office/officeart/2005/8/layout/vList6"/>
    <dgm:cxn modelId="{1B33F576-A22C-4426-ACDA-8C1360428A7E}" type="presParOf" srcId="{839AB58C-65E6-4F32-A834-B6C8C2AA7942}" destId="{55858ACC-6B6A-45F6-B108-AFCBB82EE31D}" srcOrd="1" destOrd="0" presId="urn:microsoft.com/office/officeart/2005/8/layout/vList6"/>
    <dgm:cxn modelId="{941BB550-8D89-461A-8210-B15986C14685}" type="presParOf" srcId="{5209E62F-0775-4800-8CDF-7E22E3AA1A2F}" destId="{956D2617-FEC4-40EA-9564-7A5AD6CD8DBC}" srcOrd="5" destOrd="0" presId="urn:microsoft.com/office/officeart/2005/8/layout/vList6"/>
    <dgm:cxn modelId="{59728B37-E98F-44A8-904B-B9814B0805C1}" type="presParOf" srcId="{5209E62F-0775-4800-8CDF-7E22E3AA1A2F}" destId="{019C39F0-F0B6-40C1-AA9D-A84718967CA4}" srcOrd="6" destOrd="0" presId="urn:microsoft.com/office/officeart/2005/8/layout/vList6"/>
    <dgm:cxn modelId="{F1F55A11-C638-4751-A822-9EEBE8828C5B}" type="presParOf" srcId="{019C39F0-F0B6-40C1-AA9D-A84718967CA4}" destId="{D2B787A8-13CD-4157-B626-1B6F603D92B9}" srcOrd="0" destOrd="0" presId="urn:microsoft.com/office/officeart/2005/8/layout/vList6"/>
    <dgm:cxn modelId="{6E502C61-E16E-4D3E-A52E-68AC3585F3C0}" type="presParOf" srcId="{019C39F0-F0B6-40C1-AA9D-A84718967CA4}" destId="{6B2AA69B-6D45-458C-919F-A944850ECE0F}" srcOrd="1" destOrd="0" presId="urn:microsoft.com/office/officeart/2005/8/layout/vList6"/>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4BFCE6C-1516-41EC-978C-FDF4FD4FC6E8}" type="doc">
      <dgm:prSet loTypeId="urn:microsoft.com/office/officeart/2005/8/layout/vList5" loCatId="list" qsTypeId="urn:microsoft.com/office/officeart/2005/8/quickstyle/simple1" qsCatId="simple" csTypeId="urn:microsoft.com/office/officeart/2005/8/colors/accent1_2" csCatId="accent1" phldr="0"/>
      <dgm:spPr/>
      <dgm:t>
        <a:bodyPr/>
        <a:lstStyle/>
        <a:p>
          <a:endParaRPr lang="en-IN"/>
        </a:p>
      </dgm:t>
    </dgm:pt>
    <dgm:pt modelId="{B8E2CDAF-3319-4D47-9450-0DF4A8E4C87B}" type="pres">
      <dgm:prSet presAssocID="{A4BFCE6C-1516-41EC-978C-FDF4FD4FC6E8}" presName="Name0" presStyleCnt="0">
        <dgm:presLayoutVars>
          <dgm:dir/>
          <dgm:animLvl val="lvl"/>
          <dgm:resizeHandles val="exact"/>
        </dgm:presLayoutVars>
      </dgm:prSet>
      <dgm:spPr/>
    </dgm:pt>
  </dgm:ptLst>
  <dgm:cxnLst>
    <dgm:cxn modelId="{ACED2EBF-D260-48AB-AA79-85B4E5DD48C0}" type="presOf" srcId="{A4BFCE6C-1516-41EC-978C-FDF4FD4FC6E8}" destId="{B8E2CDAF-3319-4D47-9450-0DF4A8E4C87B}"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8EA13E4-7587-4918-8F10-C457AB44C957}" type="doc">
      <dgm:prSet loTypeId="urn:microsoft.com/office/officeart/2008/layout/PictureStrips" loCatId="list" qsTypeId="urn:microsoft.com/office/officeart/2005/8/quickstyle/simple1" qsCatId="simple" csTypeId="urn:microsoft.com/office/officeart/2005/8/colors/colorful4" csCatId="colorful" phldr="1"/>
      <dgm:spPr/>
      <dgm:t>
        <a:bodyPr/>
        <a:lstStyle/>
        <a:p>
          <a:endParaRPr lang="en-IN"/>
        </a:p>
      </dgm:t>
    </dgm:pt>
    <dgm:pt modelId="{121A622D-21DC-41C7-953C-7D6446A5200B}" type="pres">
      <dgm:prSet presAssocID="{08EA13E4-7587-4918-8F10-C457AB44C957}" presName="Name0" presStyleCnt="0">
        <dgm:presLayoutVars>
          <dgm:dir/>
          <dgm:resizeHandles val="exact"/>
        </dgm:presLayoutVars>
      </dgm:prSet>
      <dgm:spPr/>
    </dgm:pt>
  </dgm:ptLst>
  <dgm:cxnLst>
    <dgm:cxn modelId="{F7E6FBF8-33A7-4234-BAD5-0810D3C07375}" type="presOf" srcId="{08EA13E4-7587-4918-8F10-C457AB44C957}" destId="{121A622D-21DC-41C7-953C-7D6446A5200B}" srcOrd="0" destOrd="0" presId="urn:microsoft.com/office/officeart/2008/layout/PictureStrips"/>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B92CE17-1741-48CB-B89B-E7C9C14EADA1}" type="doc">
      <dgm:prSet loTypeId="urn:microsoft.com/office/officeart/2005/8/layout/hList6" loCatId="list" qsTypeId="urn:microsoft.com/office/officeart/2005/8/quickstyle/simple1" qsCatId="simple" csTypeId="urn:microsoft.com/office/officeart/2005/8/colors/colorful3" csCatId="colorful" phldr="1"/>
      <dgm:spPr/>
      <dgm:t>
        <a:bodyPr/>
        <a:lstStyle/>
        <a:p>
          <a:endParaRPr lang="en-IN"/>
        </a:p>
      </dgm:t>
    </dgm:pt>
    <dgm:pt modelId="{61EB0560-6898-42AA-93FA-4A055B09F964}">
      <dgm:prSet phldrT="[Text]"/>
      <dgm:spPr/>
      <dgm:t>
        <a:bodyPr/>
        <a:lstStyle/>
        <a:p>
          <a:r>
            <a:rPr lang="en-IN" dirty="0"/>
            <a:t>Functional Testing</a:t>
          </a:r>
        </a:p>
      </dgm:t>
    </dgm:pt>
    <dgm:pt modelId="{2459FF48-47B5-4894-AE11-45FA87FD021B}" type="parTrans" cxnId="{69AA0283-292F-48E8-A520-D0613CA98233}">
      <dgm:prSet/>
      <dgm:spPr/>
      <dgm:t>
        <a:bodyPr/>
        <a:lstStyle/>
        <a:p>
          <a:endParaRPr lang="en-IN"/>
        </a:p>
      </dgm:t>
    </dgm:pt>
    <dgm:pt modelId="{58A64CC5-CDCD-47F7-8726-FAB172C77D4F}" type="sibTrans" cxnId="{69AA0283-292F-48E8-A520-D0613CA98233}">
      <dgm:prSet/>
      <dgm:spPr/>
      <dgm:t>
        <a:bodyPr/>
        <a:lstStyle/>
        <a:p>
          <a:endParaRPr lang="en-IN"/>
        </a:p>
      </dgm:t>
    </dgm:pt>
    <dgm:pt modelId="{28B5C60F-94C4-498A-8586-4C65DEB80106}">
      <dgm:prSet phldrT="[Text]"/>
      <dgm:spPr/>
      <dgm:t>
        <a:bodyPr/>
        <a:lstStyle/>
        <a:p>
          <a:r>
            <a:rPr lang="en-IN" dirty="0"/>
            <a:t>Pre process the data</a:t>
          </a:r>
        </a:p>
      </dgm:t>
    </dgm:pt>
    <dgm:pt modelId="{A99C4862-E1A0-41B1-8957-2B1934D43BFF}" type="parTrans" cxnId="{7C86E95B-9D9E-4291-A3D1-43A5F04E065B}">
      <dgm:prSet/>
      <dgm:spPr/>
      <dgm:t>
        <a:bodyPr/>
        <a:lstStyle/>
        <a:p>
          <a:endParaRPr lang="en-IN"/>
        </a:p>
      </dgm:t>
    </dgm:pt>
    <dgm:pt modelId="{5FC3A822-BFE6-4DE5-90BA-D4CA7E57477F}" type="sibTrans" cxnId="{7C86E95B-9D9E-4291-A3D1-43A5F04E065B}">
      <dgm:prSet/>
      <dgm:spPr/>
      <dgm:t>
        <a:bodyPr/>
        <a:lstStyle/>
        <a:p>
          <a:endParaRPr lang="en-IN"/>
        </a:p>
      </dgm:t>
    </dgm:pt>
    <dgm:pt modelId="{016C5363-607E-4DDD-BFF8-5CDAD482DEB9}">
      <dgm:prSet phldrT="[Text]"/>
      <dgm:spPr/>
      <dgm:t>
        <a:bodyPr/>
        <a:lstStyle/>
        <a:p>
          <a:r>
            <a:rPr lang="en-IN" dirty="0"/>
            <a:t>Generating prediction	</a:t>
          </a:r>
        </a:p>
      </dgm:t>
    </dgm:pt>
    <dgm:pt modelId="{BC5EA127-F526-4D50-96A4-00264E1E410C}" type="parTrans" cxnId="{5A133145-B25A-4896-9A5C-7F71E50AB189}">
      <dgm:prSet/>
      <dgm:spPr/>
      <dgm:t>
        <a:bodyPr/>
        <a:lstStyle/>
        <a:p>
          <a:endParaRPr lang="en-IN"/>
        </a:p>
      </dgm:t>
    </dgm:pt>
    <dgm:pt modelId="{16A83C2A-7F94-412C-977E-7F1F42E5548C}" type="sibTrans" cxnId="{5A133145-B25A-4896-9A5C-7F71E50AB189}">
      <dgm:prSet/>
      <dgm:spPr/>
      <dgm:t>
        <a:bodyPr/>
        <a:lstStyle/>
        <a:p>
          <a:endParaRPr lang="en-IN"/>
        </a:p>
      </dgm:t>
    </dgm:pt>
    <dgm:pt modelId="{99461900-0F73-4AE1-B429-18289C12325F}">
      <dgm:prSet phldrT="[Text]"/>
      <dgm:spPr/>
      <dgm:t>
        <a:bodyPr/>
        <a:lstStyle/>
        <a:p>
          <a:r>
            <a:rPr lang="en-IN" dirty="0"/>
            <a:t>System Testing</a:t>
          </a:r>
        </a:p>
      </dgm:t>
    </dgm:pt>
    <dgm:pt modelId="{1F73D49E-EA05-4F49-815A-450F4F1B5AF1}" type="parTrans" cxnId="{CA0D757C-798B-4E39-901F-341191D954DD}">
      <dgm:prSet/>
      <dgm:spPr/>
      <dgm:t>
        <a:bodyPr/>
        <a:lstStyle/>
        <a:p>
          <a:endParaRPr lang="en-IN"/>
        </a:p>
      </dgm:t>
    </dgm:pt>
    <dgm:pt modelId="{3FEBDF13-43F0-437F-A547-5DD6EE90B8BE}" type="sibTrans" cxnId="{CA0D757C-798B-4E39-901F-341191D954DD}">
      <dgm:prSet/>
      <dgm:spPr/>
      <dgm:t>
        <a:bodyPr/>
        <a:lstStyle/>
        <a:p>
          <a:endParaRPr lang="en-IN"/>
        </a:p>
      </dgm:t>
    </dgm:pt>
    <dgm:pt modelId="{8E6DC087-E504-48BC-A7BB-653E0558BDAE}">
      <dgm:prSet/>
      <dgm:spPr/>
      <dgm:t>
        <a:bodyPr/>
        <a:lstStyle/>
        <a:p>
          <a:r>
            <a:rPr lang="en-IN" dirty="0"/>
            <a:t>Performance Testing</a:t>
          </a:r>
        </a:p>
      </dgm:t>
    </dgm:pt>
    <dgm:pt modelId="{ECC22F66-ACB9-4189-8965-2AA58E843604}" type="parTrans" cxnId="{1EA2D5AB-44FD-40F9-ADD6-75C655DB9F3E}">
      <dgm:prSet/>
      <dgm:spPr/>
      <dgm:t>
        <a:bodyPr/>
        <a:lstStyle/>
        <a:p>
          <a:endParaRPr lang="en-IN"/>
        </a:p>
      </dgm:t>
    </dgm:pt>
    <dgm:pt modelId="{28539452-5F7F-4DC1-A24A-91F8E6F525E6}" type="sibTrans" cxnId="{1EA2D5AB-44FD-40F9-ADD6-75C655DB9F3E}">
      <dgm:prSet/>
      <dgm:spPr/>
      <dgm:t>
        <a:bodyPr/>
        <a:lstStyle/>
        <a:p>
          <a:endParaRPr lang="en-IN"/>
        </a:p>
      </dgm:t>
    </dgm:pt>
    <dgm:pt modelId="{C23C26EE-93F4-4EBF-9A28-E19AA6C54835}">
      <dgm:prSet phldrT="[Text]"/>
      <dgm:spPr/>
      <dgm:t>
        <a:bodyPr/>
        <a:lstStyle/>
        <a:p>
          <a:r>
            <a:rPr lang="en-IN" dirty="0"/>
            <a:t>Run the multiple algorithms.</a:t>
          </a:r>
        </a:p>
      </dgm:t>
    </dgm:pt>
    <dgm:pt modelId="{3907EC8A-321D-439B-A1F4-28F53D0D548F}" type="parTrans" cxnId="{54356ADC-D37A-406E-BF3B-F5992A39E185}">
      <dgm:prSet/>
      <dgm:spPr/>
      <dgm:t>
        <a:bodyPr/>
        <a:lstStyle/>
        <a:p>
          <a:endParaRPr lang="en-IN"/>
        </a:p>
      </dgm:t>
    </dgm:pt>
    <dgm:pt modelId="{2969E3A5-DF9D-40E6-91BD-75E7AA11516C}" type="sibTrans" cxnId="{54356ADC-D37A-406E-BF3B-F5992A39E185}">
      <dgm:prSet/>
      <dgm:spPr/>
      <dgm:t>
        <a:bodyPr/>
        <a:lstStyle/>
        <a:p>
          <a:endParaRPr lang="en-IN"/>
        </a:p>
      </dgm:t>
    </dgm:pt>
    <dgm:pt modelId="{67078F97-6E3A-449D-AEC2-154FA7A4A516}">
      <dgm:prSet/>
      <dgm:spPr/>
      <dgm:t>
        <a:bodyPr/>
        <a:lstStyle/>
        <a:p>
          <a:r>
            <a:rPr lang="en-IN"/>
            <a:t>Frontend(Flask)</a:t>
          </a:r>
          <a:endParaRPr lang="en-IN" dirty="0"/>
        </a:p>
      </dgm:t>
    </dgm:pt>
    <dgm:pt modelId="{6C4047CB-4159-47A4-BF64-68AF1AAE94A7}" type="parTrans" cxnId="{302D08C9-1D6D-4074-BDF0-15CC1E83F5BA}">
      <dgm:prSet/>
      <dgm:spPr/>
      <dgm:t>
        <a:bodyPr/>
        <a:lstStyle/>
        <a:p>
          <a:endParaRPr lang="en-IN"/>
        </a:p>
      </dgm:t>
    </dgm:pt>
    <dgm:pt modelId="{F9CD551D-8930-4968-B817-CDD679BBDA53}" type="sibTrans" cxnId="{302D08C9-1D6D-4074-BDF0-15CC1E83F5BA}">
      <dgm:prSet/>
      <dgm:spPr/>
      <dgm:t>
        <a:bodyPr/>
        <a:lstStyle/>
        <a:p>
          <a:endParaRPr lang="en-IN"/>
        </a:p>
      </dgm:t>
    </dgm:pt>
    <dgm:pt modelId="{57D73338-E5ED-42EE-9C96-A7D72AB00DD5}">
      <dgm:prSet/>
      <dgm:spPr/>
      <dgm:t>
        <a:bodyPr/>
        <a:lstStyle/>
        <a:p>
          <a:r>
            <a:rPr lang="en-IN" dirty="0"/>
            <a:t>Backend(python models)</a:t>
          </a:r>
        </a:p>
      </dgm:t>
    </dgm:pt>
    <dgm:pt modelId="{C5692887-41CD-4297-99D9-5D3A64BD1E60}" type="parTrans" cxnId="{C161E886-EF81-4D84-811A-BF665B193BCE}">
      <dgm:prSet/>
      <dgm:spPr/>
      <dgm:t>
        <a:bodyPr/>
        <a:lstStyle/>
        <a:p>
          <a:endParaRPr lang="en-IN"/>
        </a:p>
      </dgm:t>
    </dgm:pt>
    <dgm:pt modelId="{02310FE2-CF68-43D5-8750-F0EC99315D85}" type="sibTrans" cxnId="{C161E886-EF81-4D84-811A-BF665B193BCE}">
      <dgm:prSet/>
      <dgm:spPr/>
      <dgm:t>
        <a:bodyPr/>
        <a:lstStyle/>
        <a:p>
          <a:endParaRPr lang="en-IN"/>
        </a:p>
      </dgm:t>
    </dgm:pt>
    <dgm:pt modelId="{94A5E44C-D7F6-47DF-A147-F92CA872AC8F}">
      <dgm:prSet/>
      <dgm:spPr/>
      <dgm:t>
        <a:bodyPr/>
        <a:lstStyle/>
        <a:p>
          <a:r>
            <a:rPr lang="en-IN" dirty="0"/>
            <a:t>Database(</a:t>
          </a:r>
          <a:r>
            <a:rPr lang="en-IN" dirty="0" err="1"/>
            <a:t>mysql</a:t>
          </a:r>
          <a:r>
            <a:rPr lang="en-IN" dirty="0"/>
            <a:t>)</a:t>
          </a:r>
        </a:p>
      </dgm:t>
    </dgm:pt>
    <dgm:pt modelId="{0AC14DD3-09F1-4C9A-87DE-4034704FA3CD}" type="parTrans" cxnId="{AF916AEC-4447-494A-829A-00C8E727A047}">
      <dgm:prSet/>
      <dgm:spPr/>
      <dgm:t>
        <a:bodyPr/>
        <a:lstStyle/>
        <a:p>
          <a:endParaRPr lang="en-IN"/>
        </a:p>
      </dgm:t>
    </dgm:pt>
    <dgm:pt modelId="{AC4EF7ED-818F-43D6-A01F-C962489F1ECD}" type="sibTrans" cxnId="{AF916AEC-4447-494A-829A-00C8E727A047}">
      <dgm:prSet/>
      <dgm:spPr/>
      <dgm:t>
        <a:bodyPr/>
        <a:lstStyle/>
        <a:p>
          <a:endParaRPr lang="en-IN"/>
        </a:p>
      </dgm:t>
    </dgm:pt>
    <dgm:pt modelId="{B75D295F-EA3D-4360-9912-169AA331A77E}">
      <dgm:prSet/>
      <dgm:spPr/>
      <dgm:t>
        <a:bodyPr/>
        <a:lstStyle/>
        <a:p>
          <a:r>
            <a:rPr lang="en-IN" dirty="0"/>
            <a:t>To check prediction testing.</a:t>
          </a:r>
        </a:p>
      </dgm:t>
    </dgm:pt>
    <dgm:pt modelId="{D21CB8A2-B2E2-4153-9469-22F0F2A16A12}" type="parTrans" cxnId="{154D8D09-9EC5-4DC4-A84F-25231082DC48}">
      <dgm:prSet/>
      <dgm:spPr/>
      <dgm:t>
        <a:bodyPr/>
        <a:lstStyle/>
        <a:p>
          <a:endParaRPr lang="en-IN"/>
        </a:p>
      </dgm:t>
    </dgm:pt>
    <dgm:pt modelId="{62E6CF07-7372-4A91-BDAE-2E96D81191ED}" type="sibTrans" cxnId="{154D8D09-9EC5-4DC4-A84F-25231082DC48}">
      <dgm:prSet/>
      <dgm:spPr/>
      <dgm:t>
        <a:bodyPr/>
        <a:lstStyle/>
        <a:p>
          <a:endParaRPr lang="en-IN"/>
        </a:p>
      </dgm:t>
    </dgm:pt>
    <dgm:pt modelId="{AB219570-C74B-4DE9-8D44-EA8BF908FF33}">
      <dgm:prSet/>
      <dgm:spPr/>
      <dgm:t>
        <a:bodyPr/>
        <a:lstStyle/>
        <a:p>
          <a:r>
            <a:rPr lang="en-IN" dirty="0"/>
            <a:t>Its handles large csv files.</a:t>
          </a:r>
        </a:p>
      </dgm:t>
    </dgm:pt>
    <dgm:pt modelId="{B60BE217-5699-4436-9B07-BF9EDAC534FC}" type="parTrans" cxnId="{93030D3F-DE9C-404E-AD75-BA05FB91265E}">
      <dgm:prSet/>
      <dgm:spPr/>
      <dgm:t>
        <a:bodyPr/>
        <a:lstStyle/>
        <a:p>
          <a:endParaRPr lang="en-IN"/>
        </a:p>
      </dgm:t>
    </dgm:pt>
    <dgm:pt modelId="{3EF1BA3D-D243-4162-ADEF-662783C80A78}" type="sibTrans" cxnId="{93030D3F-DE9C-404E-AD75-BA05FB91265E}">
      <dgm:prSet/>
      <dgm:spPr/>
      <dgm:t>
        <a:bodyPr/>
        <a:lstStyle/>
        <a:p>
          <a:endParaRPr lang="en-IN"/>
        </a:p>
      </dgm:t>
    </dgm:pt>
    <dgm:pt modelId="{4589E6F5-5E7F-4E5E-A808-EDC3DE8D6CDA}" type="pres">
      <dgm:prSet presAssocID="{DB92CE17-1741-48CB-B89B-E7C9C14EADA1}" presName="Name0" presStyleCnt="0">
        <dgm:presLayoutVars>
          <dgm:dir/>
          <dgm:resizeHandles val="exact"/>
        </dgm:presLayoutVars>
      </dgm:prSet>
      <dgm:spPr/>
    </dgm:pt>
    <dgm:pt modelId="{390ED2C2-B642-4115-99E4-2FCCF3B0AD07}" type="pres">
      <dgm:prSet presAssocID="{61EB0560-6898-42AA-93FA-4A055B09F964}" presName="node" presStyleLbl="node1" presStyleIdx="0" presStyleCnt="3">
        <dgm:presLayoutVars>
          <dgm:bulletEnabled val="1"/>
        </dgm:presLayoutVars>
      </dgm:prSet>
      <dgm:spPr/>
    </dgm:pt>
    <dgm:pt modelId="{85A89496-E32D-436B-ADF5-EF5C57B4D419}" type="pres">
      <dgm:prSet presAssocID="{58A64CC5-CDCD-47F7-8726-FAB172C77D4F}" presName="sibTrans" presStyleCnt="0"/>
      <dgm:spPr/>
    </dgm:pt>
    <dgm:pt modelId="{FE1EE193-F1C4-43F6-A991-D0BAE47454CA}" type="pres">
      <dgm:prSet presAssocID="{99461900-0F73-4AE1-B429-18289C12325F}" presName="node" presStyleLbl="node1" presStyleIdx="1" presStyleCnt="3">
        <dgm:presLayoutVars>
          <dgm:bulletEnabled val="1"/>
        </dgm:presLayoutVars>
      </dgm:prSet>
      <dgm:spPr/>
    </dgm:pt>
    <dgm:pt modelId="{2D8EEF73-2BB7-4F6A-B7A2-141435634317}" type="pres">
      <dgm:prSet presAssocID="{3FEBDF13-43F0-437F-A547-5DD6EE90B8BE}" presName="sibTrans" presStyleCnt="0"/>
      <dgm:spPr/>
    </dgm:pt>
    <dgm:pt modelId="{CB438F48-3DEF-472B-ACBE-6246BE366E15}" type="pres">
      <dgm:prSet presAssocID="{8E6DC087-E504-48BC-A7BB-653E0558BDAE}" presName="node" presStyleLbl="node1" presStyleIdx="2" presStyleCnt="3">
        <dgm:presLayoutVars>
          <dgm:bulletEnabled val="1"/>
        </dgm:presLayoutVars>
      </dgm:prSet>
      <dgm:spPr/>
    </dgm:pt>
  </dgm:ptLst>
  <dgm:cxnLst>
    <dgm:cxn modelId="{154D8D09-9EC5-4DC4-A84F-25231082DC48}" srcId="{8E6DC087-E504-48BC-A7BB-653E0558BDAE}" destId="{B75D295F-EA3D-4360-9912-169AA331A77E}" srcOrd="0" destOrd="0" parTransId="{D21CB8A2-B2E2-4153-9469-22F0F2A16A12}" sibTransId="{62E6CF07-7372-4A91-BDAE-2E96D81191ED}"/>
    <dgm:cxn modelId="{21011727-C91A-4C62-9C3B-A3A4C9B3272C}" type="presOf" srcId="{67078F97-6E3A-449D-AEC2-154FA7A4A516}" destId="{FE1EE193-F1C4-43F6-A991-D0BAE47454CA}" srcOrd="0" destOrd="1" presId="urn:microsoft.com/office/officeart/2005/8/layout/hList6"/>
    <dgm:cxn modelId="{93030D3F-DE9C-404E-AD75-BA05FB91265E}" srcId="{8E6DC087-E504-48BC-A7BB-653E0558BDAE}" destId="{AB219570-C74B-4DE9-8D44-EA8BF908FF33}" srcOrd="1" destOrd="0" parTransId="{B60BE217-5699-4436-9B07-BF9EDAC534FC}" sibTransId="{3EF1BA3D-D243-4162-ADEF-662783C80A78}"/>
    <dgm:cxn modelId="{7C86E95B-9D9E-4291-A3D1-43A5F04E065B}" srcId="{61EB0560-6898-42AA-93FA-4A055B09F964}" destId="{28B5C60F-94C4-498A-8586-4C65DEB80106}" srcOrd="0" destOrd="0" parTransId="{A99C4862-E1A0-41B1-8957-2B1934D43BFF}" sibTransId="{5FC3A822-BFE6-4DE5-90BA-D4CA7E57477F}"/>
    <dgm:cxn modelId="{686BBF44-1E48-48AF-83A4-DCF4924865AD}" type="presOf" srcId="{28B5C60F-94C4-498A-8586-4C65DEB80106}" destId="{390ED2C2-B642-4115-99E4-2FCCF3B0AD07}" srcOrd="0" destOrd="1" presId="urn:microsoft.com/office/officeart/2005/8/layout/hList6"/>
    <dgm:cxn modelId="{5A133145-B25A-4896-9A5C-7F71E50AB189}" srcId="{61EB0560-6898-42AA-93FA-4A055B09F964}" destId="{016C5363-607E-4DDD-BFF8-5CDAD482DEB9}" srcOrd="2" destOrd="0" parTransId="{BC5EA127-F526-4D50-96A4-00264E1E410C}" sibTransId="{16A83C2A-7F94-412C-977E-7F1F42E5548C}"/>
    <dgm:cxn modelId="{DC1B726A-9261-4861-9364-7E6FB379A39A}" type="presOf" srcId="{B75D295F-EA3D-4360-9912-169AA331A77E}" destId="{CB438F48-3DEF-472B-ACBE-6246BE366E15}" srcOrd="0" destOrd="1" presId="urn:microsoft.com/office/officeart/2005/8/layout/hList6"/>
    <dgm:cxn modelId="{CA0D757C-798B-4E39-901F-341191D954DD}" srcId="{DB92CE17-1741-48CB-B89B-E7C9C14EADA1}" destId="{99461900-0F73-4AE1-B429-18289C12325F}" srcOrd="1" destOrd="0" parTransId="{1F73D49E-EA05-4F49-815A-450F4F1B5AF1}" sibTransId="{3FEBDF13-43F0-437F-A547-5DD6EE90B8BE}"/>
    <dgm:cxn modelId="{69AA0283-292F-48E8-A520-D0613CA98233}" srcId="{DB92CE17-1741-48CB-B89B-E7C9C14EADA1}" destId="{61EB0560-6898-42AA-93FA-4A055B09F964}" srcOrd="0" destOrd="0" parTransId="{2459FF48-47B5-4894-AE11-45FA87FD021B}" sibTransId="{58A64CC5-CDCD-47F7-8726-FAB172C77D4F}"/>
    <dgm:cxn modelId="{3BC49E84-2668-4736-9418-69F7382CFEC8}" type="presOf" srcId="{99461900-0F73-4AE1-B429-18289C12325F}" destId="{FE1EE193-F1C4-43F6-A991-D0BAE47454CA}" srcOrd="0" destOrd="0" presId="urn:microsoft.com/office/officeart/2005/8/layout/hList6"/>
    <dgm:cxn modelId="{C161E886-EF81-4D84-811A-BF665B193BCE}" srcId="{99461900-0F73-4AE1-B429-18289C12325F}" destId="{57D73338-E5ED-42EE-9C96-A7D72AB00DD5}" srcOrd="1" destOrd="0" parTransId="{C5692887-41CD-4297-99D9-5D3A64BD1E60}" sibTransId="{02310FE2-CF68-43D5-8750-F0EC99315D85}"/>
    <dgm:cxn modelId="{BDC1D988-85AE-41F1-B97D-8DAAC7967D83}" type="presOf" srcId="{61EB0560-6898-42AA-93FA-4A055B09F964}" destId="{390ED2C2-B642-4115-99E4-2FCCF3B0AD07}" srcOrd="0" destOrd="0" presId="urn:microsoft.com/office/officeart/2005/8/layout/hList6"/>
    <dgm:cxn modelId="{6FE1D295-A071-454B-8DD6-AB072F38A387}" type="presOf" srcId="{94A5E44C-D7F6-47DF-A147-F92CA872AC8F}" destId="{FE1EE193-F1C4-43F6-A991-D0BAE47454CA}" srcOrd="0" destOrd="3" presId="urn:microsoft.com/office/officeart/2005/8/layout/hList6"/>
    <dgm:cxn modelId="{379BC0A2-8D03-4702-BE23-E37136D2EA93}" type="presOf" srcId="{AB219570-C74B-4DE9-8D44-EA8BF908FF33}" destId="{CB438F48-3DEF-472B-ACBE-6246BE366E15}" srcOrd="0" destOrd="2" presId="urn:microsoft.com/office/officeart/2005/8/layout/hList6"/>
    <dgm:cxn modelId="{A8EF6CA5-E3C0-42FF-8D93-8F2367719D72}" type="presOf" srcId="{8E6DC087-E504-48BC-A7BB-653E0558BDAE}" destId="{CB438F48-3DEF-472B-ACBE-6246BE366E15}" srcOrd="0" destOrd="0" presId="urn:microsoft.com/office/officeart/2005/8/layout/hList6"/>
    <dgm:cxn modelId="{1EA2D5AB-44FD-40F9-ADD6-75C655DB9F3E}" srcId="{DB92CE17-1741-48CB-B89B-E7C9C14EADA1}" destId="{8E6DC087-E504-48BC-A7BB-653E0558BDAE}" srcOrd="2" destOrd="0" parTransId="{ECC22F66-ACB9-4189-8965-2AA58E843604}" sibTransId="{28539452-5F7F-4DC1-A24A-91F8E6F525E6}"/>
    <dgm:cxn modelId="{80354FB3-293F-4513-AC3D-B80533C1F0E5}" type="presOf" srcId="{C23C26EE-93F4-4EBF-9A28-E19AA6C54835}" destId="{390ED2C2-B642-4115-99E4-2FCCF3B0AD07}" srcOrd="0" destOrd="2" presId="urn:microsoft.com/office/officeart/2005/8/layout/hList6"/>
    <dgm:cxn modelId="{302D08C9-1D6D-4074-BDF0-15CC1E83F5BA}" srcId="{99461900-0F73-4AE1-B429-18289C12325F}" destId="{67078F97-6E3A-449D-AEC2-154FA7A4A516}" srcOrd="0" destOrd="0" parTransId="{6C4047CB-4159-47A4-BF64-68AF1AAE94A7}" sibTransId="{F9CD551D-8930-4968-B817-CDD679BBDA53}"/>
    <dgm:cxn modelId="{7C8FF2D8-A1D8-4509-868D-72A7FC6B106F}" type="presOf" srcId="{57D73338-E5ED-42EE-9C96-A7D72AB00DD5}" destId="{FE1EE193-F1C4-43F6-A991-D0BAE47454CA}" srcOrd="0" destOrd="2" presId="urn:microsoft.com/office/officeart/2005/8/layout/hList6"/>
    <dgm:cxn modelId="{54356ADC-D37A-406E-BF3B-F5992A39E185}" srcId="{61EB0560-6898-42AA-93FA-4A055B09F964}" destId="{C23C26EE-93F4-4EBF-9A28-E19AA6C54835}" srcOrd="1" destOrd="0" parTransId="{3907EC8A-321D-439B-A1F4-28F53D0D548F}" sibTransId="{2969E3A5-DF9D-40E6-91BD-75E7AA11516C}"/>
    <dgm:cxn modelId="{AF916AEC-4447-494A-829A-00C8E727A047}" srcId="{99461900-0F73-4AE1-B429-18289C12325F}" destId="{94A5E44C-D7F6-47DF-A147-F92CA872AC8F}" srcOrd="2" destOrd="0" parTransId="{0AC14DD3-09F1-4C9A-87DE-4034704FA3CD}" sibTransId="{AC4EF7ED-818F-43D6-A01F-C962489F1ECD}"/>
    <dgm:cxn modelId="{55C648ED-1262-46DF-B369-B1C9A03EE8A1}" type="presOf" srcId="{016C5363-607E-4DDD-BFF8-5CDAD482DEB9}" destId="{390ED2C2-B642-4115-99E4-2FCCF3B0AD07}" srcOrd="0" destOrd="3" presId="urn:microsoft.com/office/officeart/2005/8/layout/hList6"/>
    <dgm:cxn modelId="{475E8DFF-BC25-4C3F-9742-004D44113128}" type="presOf" srcId="{DB92CE17-1741-48CB-B89B-E7C9C14EADA1}" destId="{4589E6F5-5E7F-4E5E-A808-EDC3DE8D6CDA}" srcOrd="0" destOrd="0" presId="urn:microsoft.com/office/officeart/2005/8/layout/hList6"/>
    <dgm:cxn modelId="{6B2A902E-395A-4D6F-AB3A-EEAB20F253EA}" type="presParOf" srcId="{4589E6F5-5E7F-4E5E-A808-EDC3DE8D6CDA}" destId="{390ED2C2-B642-4115-99E4-2FCCF3B0AD07}" srcOrd="0" destOrd="0" presId="urn:microsoft.com/office/officeart/2005/8/layout/hList6"/>
    <dgm:cxn modelId="{BD1F76CF-F3AB-4413-AD47-7076DD1DC78A}" type="presParOf" srcId="{4589E6F5-5E7F-4E5E-A808-EDC3DE8D6CDA}" destId="{85A89496-E32D-436B-ADF5-EF5C57B4D419}" srcOrd="1" destOrd="0" presId="urn:microsoft.com/office/officeart/2005/8/layout/hList6"/>
    <dgm:cxn modelId="{8F0A998A-7859-40E9-9146-DAAFA9C9BFDE}" type="presParOf" srcId="{4589E6F5-5E7F-4E5E-A808-EDC3DE8D6CDA}" destId="{FE1EE193-F1C4-43F6-A991-D0BAE47454CA}" srcOrd="2" destOrd="0" presId="urn:microsoft.com/office/officeart/2005/8/layout/hList6"/>
    <dgm:cxn modelId="{50FF87CF-DA29-4D66-BAA2-40381FA26F76}" type="presParOf" srcId="{4589E6F5-5E7F-4E5E-A808-EDC3DE8D6CDA}" destId="{2D8EEF73-2BB7-4F6A-B7A2-141435634317}" srcOrd="3" destOrd="0" presId="urn:microsoft.com/office/officeart/2005/8/layout/hList6"/>
    <dgm:cxn modelId="{1E3873FC-41A0-4A55-9611-266CD7C176A0}" type="presParOf" srcId="{4589E6F5-5E7F-4E5E-A808-EDC3DE8D6CDA}" destId="{CB438F48-3DEF-472B-ACBE-6246BE366E15}" srcOrd="4" destOrd="0" presId="urn:microsoft.com/office/officeart/2005/8/layout/hList6"/>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FA6097-0233-460E-BDB4-DBCF0015EEEE}">
      <dsp:nvSpPr>
        <dsp:cNvPr id="0" name=""/>
        <dsp:cNvSpPr/>
      </dsp:nvSpPr>
      <dsp:spPr>
        <a:xfrm>
          <a:off x="3251199" y="1279"/>
          <a:ext cx="4876800" cy="1015341"/>
        </a:xfrm>
        <a:prstGeom prst="rightArrow">
          <a:avLst>
            <a:gd name="adj1" fmla="val 75000"/>
            <a:gd name="adj2" fmla="val 50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en-US" sz="1800" kern="1200" dirty="0"/>
            <a:t>Collect historical stock price data.</a:t>
          </a:r>
          <a:endParaRPr lang="en-IN" sz="1800" kern="1200" dirty="0"/>
        </a:p>
        <a:p>
          <a:pPr marL="171450" lvl="1" indent="-171450" algn="l" defTabSz="800100">
            <a:lnSpc>
              <a:spcPct val="90000"/>
            </a:lnSpc>
            <a:spcBef>
              <a:spcPct val="0"/>
            </a:spcBef>
            <a:spcAft>
              <a:spcPct val="15000"/>
            </a:spcAft>
            <a:buChar char="•"/>
          </a:pPr>
          <a:r>
            <a:rPr lang="en-IN" sz="1800" kern="1200" dirty="0"/>
            <a:t>Source is downloaded from datasets.</a:t>
          </a:r>
        </a:p>
      </dsp:txBody>
      <dsp:txXfrm>
        <a:off x="3251199" y="128197"/>
        <a:ext cx="4496047" cy="761505"/>
      </dsp:txXfrm>
    </dsp:sp>
    <dsp:sp modelId="{E079E118-E145-419D-A4FC-283A9B61C51C}">
      <dsp:nvSpPr>
        <dsp:cNvPr id="0" name=""/>
        <dsp:cNvSpPr/>
      </dsp:nvSpPr>
      <dsp:spPr>
        <a:xfrm>
          <a:off x="0" y="1279"/>
          <a:ext cx="3251200" cy="1015341"/>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IN" sz="2400" kern="1200" dirty="0"/>
            <a:t>Data collection</a:t>
          </a:r>
        </a:p>
      </dsp:txBody>
      <dsp:txXfrm>
        <a:off x="49565" y="50844"/>
        <a:ext cx="3152070" cy="916211"/>
      </dsp:txXfrm>
    </dsp:sp>
    <dsp:sp modelId="{9E0C9218-8914-4228-9C10-28F36D418809}">
      <dsp:nvSpPr>
        <dsp:cNvPr id="0" name=""/>
        <dsp:cNvSpPr/>
      </dsp:nvSpPr>
      <dsp:spPr>
        <a:xfrm>
          <a:off x="3251199" y="1118155"/>
          <a:ext cx="4876800" cy="1015341"/>
        </a:xfrm>
        <a:prstGeom prst="rightArrow">
          <a:avLst>
            <a:gd name="adj1" fmla="val 75000"/>
            <a:gd name="adj2" fmla="val 50000"/>
          </a:avLst>
        </a:prstGeom>
        <a:solidFill>
          <a:schemeClr val="accent2">
            <a:tint val="40000"/>
            <a:alpha val="90000"/>
            <a:hueOff val="-283075"/>
            <a:satOff val="-25115"/>
            <a:lumOff val="-256"/>
            <a:alphaOff val="0"/>
          </a:schemeClr>
        </a:solidFill>
        <a:ln w="12700" cap="flat" cmpd="sng" algn="ctr">
          <a:solidFill>
            <a:schemeClr val="accent2">
              <a:tint val="40000"/>
              <a:alpha val="90000"/>
              <a:hueOff val="-283075"/>
              <a:satOff val="-25115"/>
              <a:lumOff val="-25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en-IN" sz="1800" kern="1200" dirty="0"/>
            <a:t>Checks the missing values.</a:t>
          </a:r>
        </a:p>
        <a:p>
          <a:pPr marL="171450" lvl="1" indent="-171450" algn="l" defTabSz="800100">
            <a:lnSpc>
              <a:spcPct val="90000"/>
            </a:lnSpc>
            <a:spcBef>
              <a:spcPct val="0"/>
            </a:spcBef>
            <a:spcAft>
              <a:spcPct val="15000"/>
            </a:spcAft>
            <a:buChar char="•"/>
          </a:pPr>
          <a:r>
            <a:rPr lang="en-IN" sz="1800" kern="1200" dirty="0"/>
            <a:t>Remove or fill missing values</a:t>
          </a:r>
        </a:p>
      </dsp:txBody>
      <dsp:txXfrm>
        <a:off x="3251199" y="1245073"/>
        <a:ext cx="4496047" cy="761505"/>
      </dsp:txXfrm>
    </dsp:sp>
    <dsp:sp modelId="{8EEEB52E-BAFC-4B95-9F0C-F04E13BA864D}">
      <dsp:nvSpPr>
        <dsp:cNvPr id="0" name=""/>
        <dsp:cNvSpPr/>
      </dsp:nvSpPr>
      <dsp:spPr>
        <a:xfrm>
          <a:off x="0" y="1118155"/>
          <a:ext cx="3251200" cy="1015341"/>
        </a:xfrm>
        <a:prstGeom prst="round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IN" sz="2400" kern="1200" dirty="0"/>
            <a:t>Data pre processing</a:t>
          </a:r>
        </a:p>
      </dsp:txBody>
      <dsp:txXfrm>
        <a:off x="49565" y="1167720"/>
        <a:ext cx="3152070" cy="916211"/>
      </dsp:txXfrm>
    </dsp:sp>
    <dsp:sp modelId="{55858ACC-6B6A-45F6-B108-AFCBB82EE31D}">
      <dsp:nvSpPr>
        <dsp:cNvPr id="0" name=""/>
        <dsp:cNvSpPr/>
      </dsp:nvSpPr>
      <dsp:spPr>
        <a:xfrm>
          <a:off x="3242974" y="2184263"/>
          <a:ext cx="4876800" cy="1015341"/>
        </a:xfrm>
        <a:prstGeom prst="rightArrow">
          <a:avLst>
            <a:gd name="adj1" fmla="val 75000"/>
            <a:gd name="adj2" fmla="val 50000"/>
          </a:avLst>
        </a:prstGeom>
        <a:solidFill>
          <a:schemeClr val="accent2">
            <a:tint val="40000"/>
            <a:alpha val="90000"/>
            <a:hueOff val="-566151"/>
            <a:satOff val="-50231"/>
            <a:lumOff val="-513"/>
            <a:alphaOff val="0"/>
          </a:schemeClr>
        </a:solidFill>
        <a:ln w="12700" cap="flat" cmpd="sng" algn="ctr">
          <a:solidFill>
            <a:schemeClr val="accent2">
              <a:tint val="40000"/>
              <a:alpha val="90000"/>
              <a:hueOff val="-566151"/>
              <a:satOff val="-50231"/>
              <a:lumOff val="-51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en-IN" sz="1800" kern="1200" dirty="0"/>
            <a:t>It train the model.</a:t>
          </a:r>
        </a:p>
        <a:p>
          <a:pPr marL="171450" lvl="1" indent="-171450" algn="l" defTabSz="800100">
            <a:lnSpc>
              <a:spcPct val="90000"/>
            </a:lnSpc>
            <a:spcBef>
              <a:spcPct val="0"/>
            </a:spcBef>
            <a:spcAft>
              <a:spcPct val="15000"/>
            </a:spcAft>
            <a:buChar char="•"/>
          </a:pPr>
          <a:r>
            <a:rPr lang="en-IN" sz="1800" kern="1200" dirty="0"/>
            <a:t>Selects the best algorithm based on accuracy.</a:t>
          </a:r>
        </a:p>
      </dsp:txBody>
      <dsp:txXfrm>
        <a:off x="3242974" y="2311181"/>
        <a:ext cx="4496047" cy="761505"/>
      </dsp:txXfrm>
    </dsp:sp>
    <dsp:sp modelId="{5AF87DDA-7E4E-4CE9-8963-AD47AEED04DF}">
      <dsp:nvSpPr>
        <dsp:cNvPr id="0" name=""/>
        <dsp:cNvSpPr/>
      </dsp:nvSpPr>
      <dsp:spPr>
        <a:xfrm>
          <a:off x="0" y="2184263"/>
          <a:ext cx="3251200" cy="1015341"/>
        </a:xfrm>
        <a:prstGeom prst="round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IN" sz="2400" kern="1200" dirty="0"/>
            <a:t>Algorithm</a:t>
          </a:r>
        </a:p>
        <a:p>
          <a:pPr marL="0" lvl="0" indent="0" algn="ctr" defTabSz="1066800">
            <a:lnSpc>
              <a:spcPct val="90000"/>
            </a:lnSpc>
            <a:spcBef>
              <a:spcPct val="0"/>
            </a:spcBef>
            <a:spcAft>
              <a:spcPct val="35000"/>
            </a:spcAft>
            <a:buNone/>
          </a:pPr>
          <a:r>
            <a:rPr lang="en-IN" sz="2400" kern="1200" dirty="0"/>
            <a:t>Selection</a:t>
          </a:r>
        </a:p>
      </dsp:txBody>
      <dsp:txXfrm>
        <a:off x="49565" y="2233828"/>
        <a:ext cx="3152070" cy="916211"/>
      </dsp:txXfrm>
    </dsp:sp>
    <dsp:sp modelId="{6B2AA69B-6D45-458C-919F-A944850ECE0F}">
      <dsp:nvSpPr>
        <dsp:cNvPr id="0" name=""/>
        <dsp:cNvSpPr/>
      </dsp:nvSpPr>
      <dsp:spPr>
        <a:xfrm>
          <a:off x="3242974" y="3351905"/>
          <a:ext cx="4876800" cy="1015341"/>
        </a:xfrm>
        <a:prstGeom prst="rightArrow">
          <a:avLst>
            <a:gd name="adj1" fmla="val 75000"/>
            <a:gd name="adj2" fmla="val 50000"/>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en-IN" sz="1800" kern="1200" dirty="0"/>
            <a:t>Identify the most accurate algorithm.</a:t>
          </a:r>
        </a:p>
        <a:p>
          <a:pPr marL="171450" lvl="1" indent="-171450" algn="l" defTabSz="800100">
            <a:lnSpc>
              <a:spcPct val="90000"/>
            </a:lnSpc>
            <a:spcBef>
              <a:spcPct val="0"/>
            </a:spcBef>
            <a:spcAft>
              <a:spcPct val="15000"/>
            </a:spcAft>
            <a:buChar char="•"/>
          </a:pPr>
          <a:r>
            <a:rPr lang="en-IN" sz="1800" kern="1200" dirty="0" err="1"/>
            <a:t>Analyze</a:t>
          </a:r>
          <a:r>
            <a:rPr lang="en-IN" sz="1800" kern="1200" dirty="0"/>
            <a:t>  differences between algorithms.</a:t>
          </a:r>
        </a:p>
      </dsp:txBody>
      <dsp:txXfrm>
        <a:off x="3242974" y="3478823"/>
        <a:ext cx="4496047" cy="761505"/>
      </dsp:txXfrm>
    </dsp:sp>
    <dsp:sp modelId="{D2B787A8-13CD-4157-B626-1B6F603D92B9}">
      <dsp:nvSpPr>
        <dsp:cNvPr id="0" name=""/>
        <dsp:cNvSpPr/>
      </dsp:nvSpPr>
      <dsp:spPr>
        <a:xfrm>
          <a:off x="0" y="3351905"/>
          <a:ext cx="3251200" cy="1015341"/>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IN" sz="2400" kern="1200" dirty="0"/>
            <a:t>Comparison</a:t>
          </a:r>
        </a:p>
      </dsp:txBody>
      <dsp:txXfrm>
        <a:off x="49565" y="3401470"/>
        <a:ext cx="3152070" cy="91621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0ED2C2-B642-4115-99E4-2FCCF3B0AD07}">
      <dsp:nvSpPr>
        <dsp:cNvPr id="0" name=""/>
        <dsp:cNvSpPr/>
      </dsp:nvSpPr>
      <dsp:spPr>
        <a:xfrm rot="16200000">
          <a:off x="-716446" y="717438"/>
          <a:ext cx="4014565" cy="2579687"/>
        </a:xfrm>
        <a:prstGeom prst="flowChartManualOperation">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0" rIns="155091" bIns="0" numCol="1" spcCol="1270" anchor="t" anchorCtr="0">
          <a:noAutofit/>
        </a:bodyPr>
        <a:lstStyle/>
        <a:p>
          <a:pPr marL="0" lvl="0" indent="0" algn="l" defTabSz="1066800">
            <a:lnSpc>
              <a:spcPct val="90000"/>
            </a:lnSpc>
            <a:spcBef>
              <a:spcPct val="0"/>
            </a:spcBef>
            <a:spcAft>
              <a:spcPct val="35000"/>
            </a:spcAft>
            <a:buNone/>
          </a:pPr>
          <a:r>
            <a:rPr lang="en-IN" sz="2400" kern="1200" dirty="0"/>
            <a:t>Functional Testing</a:t>
          </a:r>
        </a:p>
        <a:p>
          <a:pPr marL="171450" lvl="1" indent="-171450" algn="l" defTabSz="844550">
            <a:lnSpc>
              <a:spcPct val="90000"/>
            </a:lnSpc>
            <a:spcBef>
              <a:spcPct val="0"/>
            </a:spcBef>
            <a:spcAft>
              <a:spcPct val="15000"/>
            </a:spcAft>
            <a:buChar char="•"/>
          </a:pPr>
          <a:r>
            <a:rPr lang="en-IN" sz="1900" kern="1200" dirty="0"/>
            <a:t>Pre process the data</a:t>
          </a:r>
        </a:p>
        <a:p>
          <a:pPr marL="171450" lvl="1" indent="-171450" algn="l" defTabSz="844550">
            <a:lnSpc>
              <a:spcPct val="90000"/>
            </a:lnSpc>
            <a:spcBef>
              <a:spcPct val="0"/>
            </a:spcBef>
            <a:spcAft>
              <a:spcPct val="15000"/>
            </a:spcAft>
            <a:buChar char="•"/>
          </a:pPr>
          <a:r>
            <a:rPr lang="en-IN" sz="1900" kern="1200" dirty="0"/>
            <a:t>Run the multiple algorithms.</a:t>
          </a:r>
        </a:p>
        <a:p>
          <a:pPr marL="171450" lvl="1" indent="-171450" algn="l" defTabSz="844550">
            <a:lnSpc>
              <a:spcPct val="90000"/>
            </a:lnSpc>
            <a:spcBef>
              <a:spcPct val="0"/>
            </a:spcBef>
            <a:spcAft>
              <a:spcPct val="15000"/>
            </a:spcAft>
            <a:buChar char="•"/>
          </a:pPr>
          <a:r>
            <a:rPr lang="en-IN" sz="1900" kern="1200" dirty="0"/>
            <a:t>Generating prediction	</a:t>
          </a:r>
        </a:p>
      </dsp:txBody>
      <dsp:txXfrm rot="5400000">
        <a:off x="993" y="802912"/>
        <a:ext cx="2579687" cy="2408739"/>
      </dsp:txXfrm>
    </dsp:sp>
    <dsp:sp modelId="{FE1EE193-F1C4-43F6-A991-D0BAE47454CA}">
      <dsp:nvSpPr>
        <dsp:cNvPr id="0" name=""/>
        <dsp:cNvSpPr/>
      </dsp:nvSpPr>
      <dsp:spPr>
        <a:xfrm rot="16200000">
          <a:off x="2056717" y="717438"/>
          <a:ext cx="4014565" cy="2579687"/>
        </a:xfrm>
        <a:prstGeom prst="flowChartManualOperation">
          <a:avLst/>
        </a:prstGeom>
        <a:solidFill>
          <a:schemeClr val="accent3">
            <a:hueOff val="1355300"/>
            <a:satOff val="50000"/>
            <a:lumOff val="-7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0" rIns="155091" bIns="0" numCol="1" spcCol="1270" anchor="t" anchorCtr="0">
          <a:noAutofit/>
        </a:bodyPr>
        <a:lstStyle/>
        <a:p>
          <a:pPr marL="0" lvl="0" indent="0" algn="l" defTabSz="1066800">
            <a:lnSpc>
              <a:spcPct val="90000"/>
            </a:lnSpc>
            <a:spcBef>
              <a:spcPct val="0"/>
            </a:spcBef>
            <a:spcAft>
              <a:spcPct val="35000"/>
            </a:spcAft>
            <a:buNone/>
          </a:pPr>
          <a:r>
            <a:rPr lang="en-IN" sz="2400" kern="1200" dirty="0"/>
            <a:t>System Testing</a:t>
          </a:r>
        </a:p>
        <a:p>
          <a:pPr marL="171450" lvl="1" indent="-171450" algn="l" defTabSz="844550">
            <a:lnSpc>
              <a:spcPct val="90000"/>
            </a:lnSpc>
            <a:spcBef>
              <a:spcPct val="0"/>
            </a:spcBef>
            <a:spcAft>
              <a:spcPct val="15000"/>
            </a:spcAft>
            <a:buChar char="•"/>
          </a:pPr>
          <a:r>
            <a:rPr lang="en-IN" sz="1900" kern="1200"/>
            <a:t>Frontend(Flask)</a:t>
          </a:r>
          <a:endParaRPr lang="en-IN" sz="1900" kern="1200" dirty="0"/>
        </a:p>
        <a:p>
          <a:pPr marL="171450" lvl="1" indent="-171450" algn="l" defTabSz="844550">
            <a:lnSpc>
              <a:spcPct val="90000"/>
            </a:lnSpc>
            <a:spcBef>
              <a:spcPct val="0"/>
            </a:spcBef>
            <a:spcAft>
              <a:spcPct val="15000"/>
            </a:spcAft>
            <a:buChar char="•"/>
          </a:pPr>
          <a:r>
            <a:rPr lang="en-IN" sz="1900" kern="1200" dirty="0"/>
            <a:t>Backend(python models)</a:t>
          </a:r>
        </a:p>
        <a:p>
          <a:pPr marL="171450" lvl="1" indent="-171450" algn="l" defTabSz="844550">
            <a:lnSpc>
              <a:spcPct val="90000"/>
            </a:lnSpc>
            <a:spcBef>
              <a:spcPct val="0"/>
            </a:spcBef>
            <a:spcAft>
              <a:spcPct val="15000"/>
            </a:spcAft>
            <a:buChar char="•"/>
          </a:pPr>
          <a:r>
            <a:rPr lang="en-IN" sz="1900" kern="1200" dirty="0"/>
            <a:t>Database(</a:t>
          </a:r>
          <a:r>
            <a:rPr lang="en-IN" sz="1900" kern="1200" dirty="0" err="1"/>
            <a:t>mysql</a:t>
          </a:r>
          <a:r>
            <a:rPr lang="en-IN" sz="1900" kern="1200" dirty="0"/>
            <a:t>)</a:t>
          </a:r>
        </a:p>
      </dsp:txBody>
      <dsp:txXfrm rot="5400000">
        <a:off x="2774156" y="802912"/>
        <a:ext cx="2579687" cy="2408739"/>
      </dsp:txXfrm>
    </dsp:sp>
    <dsp:sp modelId="{CB438F48-3DEF-472B-ACBE-6246BE366E15}">
      <dsp:nvSpPr>
        <dsp:cNvPr id="0" name=""/>
        <dsp:cNvSpPr/>
      </dsp:nvSpPr>
      <dsp:spPr>
        <a:xfrm rot="16200000">
          <a:off x="4829881" y="717438"/>
          <a:ext cx="4014565" cy="2579687"/>
        </a:xfrm>
        <a:prstGeom prst="flowChartManualOperation">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0" rIns="155091" bIns="0" numCol="1" spcCol="1270" anchor="t" anchorCtr="0">
          <a:noAutofit/>
        </a:bodyPr>
        <a:lstStyle/>
        <a:p>
          <a:pPr marL="0" lvl="0" indent="0" algn="l" defTabSz="1066800">
            <a:lnSpc>
              <a:spcPct val="90000"/>
            </a:lnSpc>
            <a:spcBef>
              <a:spcPct val="0"/>
            </a:spcBef>
            <a:spcAft>
              <a:spcPct val="35000"/>
            </a:spcAft>
            <a:buNone/>
          </a:pPr>
          <a:r>
            <a:rPr lang="en-IN" sz="2400" kern="1200" dirty="0"/>
            <a:t>Performance Testing</a:t>
          </a:r>
        </a:p>
        <a:p>
          <a:pPr marL="171450" lvl="1" indent="-171450" algn="l" defTabSz="844550">
            <a:lnSpc>
              <a:spcPct val="90000"/>
            </a:lnSpc>
            <a:spcBef>
              <a:spcPct val="0"/>
            </a:spcBef>
            <a:spcAft>
              <a:spcPct val="15000"/>
            </a:spcAft>
            <a:buChar char="•"/>
          </a:pPr>
          <a:r>
            <a:rPr lang="en-IN" sz="1900" kern="1200" dirty="0"/>
            <a:t>To check prediction testing.</a:t>
          </a:r>
        </a:p>
        <a:p>
          <a:pPr marL="171450" lvl="1" indent="-171450" algn="l" defTabSz="844550">
            <a:lnSpc>
              <a:spcPct val="90000"/>
            </a:lnSpc>
            <a:spcBef>
              <a:spcPct val="0"/>
            </a:spcBef>
            <a:spcAft>
              <a:spcPct val="15000"/>
            </a:spcAft>
            <a:buChar char="•"/>
          </a:pPr>
          <a:r>
            <a:rPr lang="en-IN" sz="1900" kern="1200" dirty="0"/>
            <a:t>Its handles large csv files.</a:t>
          </a:r>
        </a:p>
      </dsp:txBody>
      <dsp:txXfrm rot="5400000">
        <a:off x="5547320" y="802912"/>
        <a:ext cx="2579687" cy="2408739"/>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154759-4F48-476F-A462-B487ADDA2DEE}" type="datetimeFigureOut">
              <a:rPr lang="en-IN" smtClean="0"/>
              <a:t>27-11-2025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06CEB-4FD9-4B6E-972B-97EF5501E996}" type="slidenum">
              <a:rPr lang="en-IN" smtClean="0"/>
              <a:t>‹#›</a:t>
            </a:fld>
            <a:endParaRPr lang="en-IN"/>
          </a:p>
        </p:txBody>
      </p:sp>
    </p:spTree>
    <p:extLst>
      <p:ext uri="{BB962C8B-B14F-4D97-AF65-F5344CB8AC3E}">
        <p14:creationId xmlns:p14="http://schemas.microsoft.com/office/powerpoint/2010/main" val="3434725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0706CEB-4FD9-4B6E-972B-97EF5501E996}" type="slidenum">
              <a:rPr lang="en-IN" smtClean="0"/>
              <a:t>9</a:t>
            </a:fld>
            <a:endParaRPr lang="en-IN"/>
          </a:p>
        </p:txBody>
      </p:sp>
    </p:spTree>
    <p:extLst>
      <p:ext uri="{BB962C8B-B14F-4D97-AF65-F5344CB8AC3E}">
        <p14:creationId xmlns:p14="http://schemas.microsoft.com/office/powerpoint/2010/main" val="186932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0706CEB-4FD9-4B6E-972B-97EF5501E996}" type="slidenum">
              <a:rPr lang="en-IN" smtClean="0"/>
              <a:t>10</a:t>
            </a:fld>
            <a:endParaRPr lang="en-IN"/>
          </a:p>
        </p:txBody>
      </p:sp>
    </p:spTree>
    <p:extLst>
      <p:ext uri="{BB962C8B-B14F-4D97-AF65-F5344CB8AC3E}">
        <p14:creationId xmlns:p14="http://schemas.microsoft.com/office/powerpoint/2010/main" val="28900542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1C5F1-E39D-534D-90BF-7584C1F5F2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D48E791-77DA-6D7D-CFDC-ACAF5AECA5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B05728B-D14C-DF17-B58F-91BC90E339FD}"/>
              </a:ext>
            </a:extLst>
          </p:cNvPr>
          <p:cNvSpPr>
            <a:spLocks noGrp="1"/>
          </p:cNvSpPr>
          <p:nvPr>
            <p:ph type="dt" sz="half" idx="10"/>
          </p:nvPr>
        </p:nvSpPr>
        <p:spPr/>
        <p:txBody>
          <a:bodyPr/>
          <a:lstStyle/>
          <a:p>
            <a:fld id="{56F43BB6-B026-4D76-A884-68DBC5C3169E}" type="datetimeFigureOut">
              <a:rPr lang="en-IN" smtClean="0"/>
              <a:t>27-11-2025</a:t>
            </a:fld>
            <a:endParaRPr lang="en-IN"/>
          </a:p>
        </p:txBody>
      </p:sp>
      <p:sp>
        <p:nvSpPr>
          <p:cNvPr id="5" name="Footer Placeholder 4">
            <a:extLst>
              <a:ext uri="{FF2B5EF4-FFF2-40B4-BE49-F238E27FC236}">
                <a16:creationId xmlns:a16="http://schemas.microsoft.com/office/drawing/2014/main" id="{ACA51B1C-A960-D36E-C485-4ABA0C5191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07A765-5431-EC71-EBD8-94DF11321F25}"/>
              </a:ext>
            </a:extLst>
          </p:cNvPr>
          <p:cNvSpPr>
            <a:spLocks noGrp="1"/>
          </p:cNvSpPr>
          <p:nvPr>
            <p:ph type="sldNum" sz="quarter" idx="12"/>
          </p:nvPr>
        </p:nvSpPr>
        <p:spPr/>
        <p:txBody>
          <a:bodyPr/>
          <a:lstStyle/>
          <a:p>
            <a:fld id="{397EE92A-FD82-4682-A6E4-ACD02626366E}" type="slidenum">
              <a:rPr lang="en-IN" smtClean="0"/>
              <a:t>‹#›</a:t>
            </a:fld>
            <a:endParaRPr lang="en-IN"/>
          </a:p>
        </p:txBody>
      </p:sp>
    </p:spTree>
    <p:extLst>
      <p:ext uri="{BB962C8B-B14F-4D97-AF65-F5344CB8AC3E}">
        <p14:creationId xmlns:p14="http://schemas.microsoft.com/office/powerpoint/2010/main" val="3422329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C147F-6E97-E4C5-1581-C3E6237ECAD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630C761-11C2-D153-C283-3177ED8F9E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0202BF-0F38-9821-09A8-5227186DA878}"/>
              </a:ext>
            </a:extLst>
          </p:cNvPr>
          <p:cNvSpPr>
            <a:spLocks noGrp="1"/>
          </p:cNvSpPr>
          <p:nvPr>
            <p:ph type="dt" sz="half" idx="10"/>
          </p:nvPr>
        </p:nvSpPr>
        <p:spPr/>
        <p:txBody>
          <a:bodyPr/>
          <a:lstStyle/>
          <a:p>
            <a:fld id="{56F43BB6-B026-4D76-A884-68DBC5C3169E}" type="datetimeFigureOut">
              <a:rPr lang="en-IN" smtClean="0"/>
              <a:t>27-11-2025</a:t>
            </a:fld>
            <a:endParaRPr lang="en-IN"/>
          </a:p>
        </p:txBody>
      </p:sp>
      <p:sp>
        <p:nvSpPr>
          <p:cNvPr id="5" name="Footer Placeholder 4">
            <a:extLst>
              <a:ext uri="{FF2B5EF4-FFF2-40B4-BE49-F238E27FC236}">
                <a16:creationId xmlns:a16="http://schemas.microsoft.com/office/drawing/2014/main" id="{4BC22E50-BFB3-9614-00EA-BAD19C6568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01539C-6F31-6A1E-9D1D-676333AB1867}"/>
              </a:ext>
            </a:extLst>
          </p:cNvPr>
          <p:cNvSpPr>
            <a:spLocks noGrp="1"/>
          </p:cNvSpPr>
          <p:nvPr>
            <p:ph type="sldNum" sz="quarter" idx="12"/>
          </p:nvPr>
        </p:nvSpPr>
        <p:spPr/>
        <p:txBody>
          <a:bodyPr/>
          <a:lstStyle/>
          <a:p>
            <a:fld id="{397EE92A-FD82-4682-A6E4-ACD02626366E}" type="slidenum">
              <a:rPr lang="en-IN" smtClean="0"/>
              <a:t>‹#›</a:t>
            </a:fld>
            <a:endParaRPr lang="en-IN"/>
          </a:p>
        </p:txBody>
      </p:sp>
    </p:spTree>
    <p:extLst>
      <p:ext uri="{BB962C8B-B14F-4D97-AF65-F5344CB8AC3E}">
        <p14:creationId xmlns:p14="http://schemas.microsoft.com/office/powerpoint/2010/main" val="3307242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10AE1-45C5-B53B-8FC4-7436E94795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E0B587B-5B64-8BC1-DC3F-560D7A87DD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C0E3AC-37FE-059A-3C40-58401397233F}"/>
              </a:ext>
            </a:extLst>
          </p:cNvPr>
          <p:cNvSpPr>
            <a:spLocks noGrp="1"/>
          </p:cNvSpPr>
          <p:nvPr>
            <p:ph type="dt" sz="half" idx="10"/>
          </p:nvPr>
        </p:nvSpPr>
        <p:spPr/>
        <p:txBody>
          <a:bodyPr/>
          <a:lstStyle/>
          <a:p>
            <a:fld id="{56F43BB6-B026-4D76-A884-68DBC5C3169E}" type="datetimeFigureOut">
              <a:rPr lang="en-IN" smtClean="0"/>
              <a:t>27-11-2025</a:t>
            </a:fld>
            <a:endParaRPr lang="en-IN"/>
          </a:p>
        </p:txBody>
      </p:sp>
      <p:sp>
        <p:nvSpPr>
          <p:cNvPr id="5" name="Footer Placeholder 4">
            <a:extLst>
              <a:ext uri="{FF2B5EF4-FFF2-40B4-BE49-F238E27FC236}">
                <a16:creationId xmlns:a16="http://schemas.microsoft.com/office/drawing/2014/main" id="{071A63FA-58F5-5F67-C8EB-78B52C4804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68DD9F-0FE7-A806-BD7D-251923F3BEA1}"/>
              </a:ext>
            </a:extLst>
          </p:cNvPr>
          <p:cNvSpPr>
            <a:spLocks noGrp="1"/>
          </p:cNvSpPr>
          <p:nvPr>
            <p:ph type="sldNum" sz="quarter" idx="12"/>
          </p:nvPr>
        </p:nvSpPr>
        <p:spPr/>
        <p:txBody>
          <a:bodyPr/>
          <a:lstStyle/>
          <a:p>
            <a:fld id="{397EE92A-FD82-4682-A6E4-ACD02626366E}" type="slidenum">
              <a:rPr lang="en-IN" smtClean="0"/>
              <a:t>‹#›</a:t>
            </a:fld>
            <a:endParaRPr lang="en-IN"/>
          </a:p>
        </p:txBody>
      </p:sp>
    </p:spTree>
    <p:extLst>
      <p:ext uri="{BB962C8B-B14F-4D97-AF65-F5344CB8AC3E}">
        <p14:creationId xmlns:p14="http://schemas.microsoft.com/office/powerpoint/2010/main" val="644605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04A68-0E0A-3319-8925-80748D98694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EC4C335-76BE-4A1B-32AF-A9C71C53B1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4323D0A-AB4C-129F-0D66-77DF71F0E39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9E21D96-D032-0D60-E709-67F1911BD942}"/>
              </a:ext>
            </a:extLst>
          </p:cNvPr>
          <p:cNvSpPr>
            <a:spLocks noGrp="1"/>
          </p:cNvSpPr>
          <p:nvPr>
            <p:ph type="dt" sz="half" idx="10"/>
          </p:nvPr>
        </p:nvSpPr>
        <p:spPr/>
        <p:txBody>
          <a:bodyPr/>
          <a:lstStyle/>
          <a:p>
            <a:fld id="{56F43BB6-B026-4D76-A884-68DBC5C3169E}" type="datetimeFigureOut">
              <a:rPr lang="en-IN" smtClean="0"/>
              <a:t>27-11-2025</a:t>
            </a:fld>
            <a:endParaRPr lang="en-IN"/>
          </a:p>
        </p:txBody>
      </p:sp>
      <p:sp>
        <p:nvSpPr>
          <p:cNvPr id="6" name="Footer Placeholder 5">
            <a:extLst>
              <a:ext uri="{FF2B5EF4-FFF2-40B4-BE49-F238E27FC236}">
                <a16:creationId xmlns:a16="http://schemas.microsoft.com/office/drawing/2014/main" id="{5EAABB31-0898-DC5C-5FE2-C2844CEEA41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960567A-0C95-7256-C883-884DA210E469}"/>
              </a:ext>
            </a:extLst>
          </p:cNvPr>
          <p:cNvSpPr>
            <a:spLocks noGrp="1"/>
          </p:cNvSpPr>
          <p:nvPr>
            <p:ph type="sldNum" sz="quarter" idx="12"/>
          </p:nvPr>
        </p:nvSpPr>
        <p:spPr/>
        <p:txBody>
          <a:bodyPr/>
          <a:lstStyle/>
          <a:p>
            <a:fld id="{397EE92A-FD82-4682-A6E4-ACD02626366E}" type="slidenum">
              <a:rPr lang="en-IN" smtClean="0"/>
              <a:t>‹#›</a:t>
            </a:fld>
            <a:endParaRPr lang="en-IN"/>
          </a:p>
        </p:txBody>
      </p:sp>
    </p:spTree>
    <p:extLst>
      <p:ext uri="{BB962C8B-B14F-4D97-AF65-F5344CB8AC3E}">
        <p14:creationId xmlns:p14="http://schemas.microsoft.com/office/powerpoint/2010/main" val="2923831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0C00E-26F8-DCF8-A9F6-FA374107489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D8BE41B-2040-1AFB-E593-5EF2D9D6BB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90BBA21-68F0-208E-7CE0-5B7BE0D2AD5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FAD03D7-9578-6820-06B3-2DBC7276A1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210086A-4FC7-1B56-DCCB-97D7311057D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6E3F4FE-01D8-5F16-D686-F7E856EA3B0D}"/>
              </a:ext>
            </a:extLst>
          </p:cNvPr>
          <p:cNvSpPr>
            <a:spLocks noGrp="1"/>
          </p:cNvSpPr>
          <p:nvPr>
            <p:ph type="dt" sz="half" idx="10"/>
          </p:nvPr>
        </p:nvSpPr>
        <p:spPr/>
        <p:txBody>
          <a:bodyPr/>
          <a:lstStyle/>
          <a:p>
            <a:fld id="{56F43BB6-B026-4D76-A884-68DBC5C3169E}" type="datetimeFigureOut">
              <a:rPr lang="en-IN" smtClean="0"/>
              <a:t>27-11-2025</a:t>
            </a:fld>
            <a:endParaRPr lang="en-IN"/>
          </a:p>
        </p:txBody>
      </p:sp>
      <p:sp>
        <p:nvSpPr>
          <p:cNvPr id="8" name="Footer Placeholder 7">
            <a:extLst>
              <a:ext uri="{FF2B5EF4-FFF2-40B4-BE49-F238E27FC236}">
                <a16:creationId xmlns:a16="http://schemas.microsoft.com/office/drawing/2014/main" id="{3F07EDDD-7CF5-9EBB-9C7A-C8C30725F43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3A45838-B110-1022-6253-1A5888B96306}"/>
              </a:ext>
            </a:extLst>
          </p:cNvPr>
          <p:cNvSpPr>
            <a:spLocks noGrp="1"/>
          </p:cNvSpPr>
          <p:nvPr>
            <p:ph type="sldNum" sz="quarter" idx="12"/>
          </p:nvPr>
        </p:nvSpPr>
        <p:spPr/>
        <p:txBody>
          <a:bodyPr/>
          <a:lstStyle/>
          <a:p>
            <a:fld id="{397EE92A-FD82-4682-A6E4-ACD02626366E}" type="slidenum">
              <a:rPr lang="en-IN" smtClean="0"/>
              <a:t>‹#›</a:t>
            </a:fld>
            <a:endParaRPr lang="en-IN"/>
          </a:p>
        </p:txBody>
      </p:sp>
    </p:spTree>
    <p:extLst>
      <p:ext uri="{BB962C8B-B14F-4D97-AF65-F5344CB8AC3E}">
        <p14:creationId xmlns:p14="http://schemas.microsoft.com/office/powerpoint/2010/main" val="41530595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CC44C-045C-15A5-B3EB-3EBCF55F22B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A7A9E2D-B24D-08FA-D94C-207920A1BBC8}"/>
              </a:ext>
            </a:extLst>
          </p:cNvPr>
          <p:cNvSpPr>
            <a:spLocks noGrp="1"/>
          </p:cNvSpPr>
          <p:nvPr>
            <p:ph type="dt" sz="half" idx="10"/>
          </p:nvPr>
        </p:nvSpPr>
        <p:spPr/>
        <p:txBody>
          <a:bodyPr/>
          <a:lstStyle/>
          <a:p>
            <a:fld id="{56F43BB6-B026-4D76-A884-68DBC5C3169E}" type="datetimeFigureOut">
              <a:rPr lang="en-IN" smtClean="0"/>
              <a:t>27-11-2025</a:t>
            </a:fld>
            <a:endParaRPr lang="en-IN"/>
          </a:p>
        </p:txBody>
      </p:sp>
      <p:sp>
        <p:nvSpPr>
          <p:cNvPr id="4" name="Footer Placeholder 3">
            <a:extLst>
              <a:ext uri="{FF2B5EF4-FFF2-40B4-BE49-F238E27FC236}">
                <a16:creationId xmlns:a16="http://schemas.microsoft.com/office/drawing/2014/main" id="{F618A1EB-678C-C4BC-033F-1284CC34B60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F947FC3-FDCF-584F-4CDD-3B441A337C07}"/>
              </a:ext>
            </a:extLst>
          </p:cNvPr>
          <p:cNvSpPr>
            <a:spLocks noGrp="1"/>
          </p:cNvSpPr>
          <p:nvPr>
            <p:ph type="sldNum" sz="quarter" idx="12"/>
          </p:nvPr>
        </p:nvSpPr>
        <p:spPr/>
        <p:txBody>
          <a:bodyPr/>
          <a:lstStyle/>
          <a:p>
            <a:fld id="{397EE92A-FD82-4682-A6E4-ACD02626366E}" type="slidenum">
              <a:rPr lang="en-IN" smtClean="0"/>
              <a:t>‹#›</a:t>
            </a:fld>
            <a:endParaRPr lang="en-IN"/>
          </a:p>
        </p:txBody>
      </p:sp>
    </p:spTree>
    <p:extLst>
      <p:ext uri="{BB962C8B-B14F-4D97-AF65-F5344CB8AC3E}">
        <p14:creationId xmlns:p14="http://schemas.microsoft.com/office/powerpoint/2010/main" val="141405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20C7C9-4A33-D631-2BC5-BC42E05195BF}"/>
              </a:ext>
            </a:extLst>
          </p:cNvPr>
          <p:cNvSpPr>
            <a:spLocks noGrp="1"/>
          </p:cNvSpPr>
          <p:nvPr>
            <p:ph type="dt" sz="half" idx="10"/>
          </p:nvPr>
        </p:nvSpPr>
        <p:spPr/>
        <p:txBody>
          <a:bodyPr/>
          <a:lstStyle/>
          <a:p>
            <a:fld id="{56F43BB6-B026-4D76-A884-68DBC5C3169E}" type="datetimeFigureOut">
              <a:rPr lang="en-IN" smtClean="0"/>
              <a:t>27-11-2025</a:t>
            </a:fld>
            <a:endParaRPr lang="en-IN"/>
          </a:p>
        </p:txBody>
      </p:sp>
      <p:sp>
        <p:nvSpPr>
          <p:cNvPr id="3" name="Footer Placeholder 2">
            <a:extLst>
              <a:ext uri="{FF2B5EF4-FFF2-40B4-BE49-F238E27FC236}">
                <a16:creationId xmlns:a16="http://schemas.microsoft.com/office/drawing/2014/main" id="{B53D5CC2-EF95-30C0-71BE-EC8DA31EF1B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B823E17-D4F2-7A11-7C9B-569658E9680A}"/>
              </a:ext>
            </a:extLst>
          </p:cNvPr>
          <p:cNvSpPr>
            <a:spLocks noGrp="1"/>
          </p:cNvSpPr>
          <p:nvPr>
            <p:ph type="sldNum" sz="quarter" idx="12"/>
          </p:nvPr>
        </p:nvSpPr>
        <p:spPr/>
        <p:txBody>
          <a:bodyPr/>
          <a:lstStyle/>
          <a:p>
            <a:fld id="{397EE92A-FD82-4682-A6E4-ACD02626366E}" type="slidenum">
              <a:rPr lang="en-IN" smtClean="0"/>
              <a:t>‹#›</a:t>
            </a:fld>
            <a:endParaRPr lang="en-IN"/>
          </a:p>
        </p:txBody>
      </p:sp>
    </p:spTree>
    <p:extLst>
      <p:ext uri="{BB962C8B-B14F-4D97-AF65-F5344CB8AC3E}">
        <p14:creationId xmlns:p14="http://schemas.microsoft.com/office/powerpoint/2010/main" val="1697938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E6182-DA28-BB7C-FCA5-3DAC712246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FC19C9F-A3C5-22ED-1DB7-2557EF9EC9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4E88CD3-70B9-19F9-2CF7-F939E111FE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576A24-F866-2A69-966B-207C8BE0A6F6}"/>
              </a:ext>
            </a:extLst>
          </p:cNvPr>
          <p:cNvSpPr>
            <a:spLocks noGrp="1"/>
          </p:cNvSpPr>
          <p:nvPr>
            <p:ph type="dt" sz="half" idx="10"/>
          </p:nvPr>
        </p:nvSpPr>
        <p:spPr/>
        <p:txBody>
          <a:bodyPr/>
          <a:lstStyle/>
          <a:p>
            <a:fld id="{56F43BB6-B026-4D76-A884-68DBC5C3169E}" type="datetimeFigureOut">
              <a:rPr lang="en-IN" smtClean="0"/>
              <a:t>27-11-2025</a:t>
            </a:fld>
            <a:endParaRPr lang="en-IN"/>
          </a:p>
        </p:txBody>
      </p:sp>
      <p:sp>
        <p:nvSpPr>
          <p:cNvPr id="6" name="Footer Placeholder 5">
            <a:extLst>
              <a:ext uri="{FF2B5EF4-FFF2-40B4-BE49-F238E27FC236}">
                <a16:creationId xmlns:a16="http://schemas.microsoft.com/office/drawing/2014/main" id="{7F5E04C2-A686-66D3-C548-DD9BA0A47FE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CD85BA3-9EB4-BB94-3652-7C25A16D7DD4}"/>
              </a:ext>
            </a:extLst>
          </p:cNvPr>
          <p:cNvSpPr>
            <a:spLocks noGrp="1"/>
          </p:cNvSpPr>
          <p:nvPr>
            <p:ph type="sldNum" sz="quarter" idx="12"/>
          </p:nvPr>
        </p:nvSpPr>
        <p:spPr/>
        <p:txBody>
          <a:bodyPr/>
          <a:lstStyle/>
          <a:p>
            <a:fld id="{397EE92A-FD82-4682-A6E4-ACD02626366E}" type="slidenum">
              <a:rPr lang="en-IN" smtClean="0"/>
              <a:t>‹#›</a:t>
            </a:fld>
            <a:endParaRPr lang="en-IN"/>
          </a:p>
        </p:txBody>
      </p:sp>
    </p:spTree>
    <p:extLst>
      <p:ext uri="{BB962C8B-B14F-4D97-AF65-F5344CB8AC3E}">
        <p14:creationId xmlns:p14="http://schemas.microsoft.com/office/powerpoint/2010/main" val="405638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350D3-65A0-D01B-D04E-49AA9D996A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0CCE5C4-1659-AD38-0B39-BEBD948FDD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6C6EF3A-09C8-B744-CD7E-40138616DF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691964-558A-7F99-DB06-DB9922C82BE3}"/>
              </a:ext>
            </a:extLst>
          </p:cNvPr>
          <p:cNvSpPr>
            <a:spLocks noGrp="1"/>
          </p:cNvSpPr>
          <p:nvPr>
            <p:ph type="dt" sz="half" idx="10"/>
          </p:nvPr>
        </p:nvSpPr>
        <p:spPr/>
        <p:txBody>
          <a:bodyPr/>
          <a:lstStyle/>
          <a:p>
            <a:fld id="{56F43BB6-B026-4D76-A884-68DBC5C3169E}" type="datetimeFigureOut">
              <a:rPr lang="en-IN" smtClean="0"/>
              <a:t>27-11-2025</a:t>
            </a:fld>
            <a:endParaRPr lang="en-IN"/>
          </a:p>
        </p:txBody>
      </p:sp>
      <p:sp>
        <p:nvSpPr>
          <p:cNvPr id="6" name="Footer Placeholder 5">
            <a:extLst>
              <a:ext uri="{FF2B5EF4-FFF2-40B4-BE49-F238E27FC236}">
                <a16:creationId xmlns:a16="http://schemas.microsoft.com/office/drawing/2014/main" id="{0DAC216C-C19A-4811-870F-E66A94B7C90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D795BA-6446-AE9A-1423-9C8DF00271BE}"/>
              </a:ext>
            </a:extLst>
          </p:cNvPr>
          <p:cNvSpPr>
            <a:spLocks noGrp="1"/>
          </p:cNvSpPr>
          <p:nvPr>
            <p:ph type="sldNum" sz="quarter" idx="12"/>
          </p:nvPr>
        </p:nvSpPr>
        <p:spPr/>
        <p:txBody>
          <a:bodyPr/>
          <a:lstStyle/>
          <a:p>
            <a:fld id="{397EE92A-FD82-4682-A6E4-ACD02626366E}" type="slidenum">
              <a:rPr lang="en-IN" smtClean="0"/>
              <a:t>‹#›</a:t>
            </a:fld>
            <a:endParaRPr lang="en-IN"/>
          </a:p>
        </p:txBody>
      </p:sp>
    </p:spTree>
    <p:extLst>
      <p:ext uri="{BB962C8B-B14F-4D97-AF65-F5344CB8AC3E}">
        <p14:creationId xmlns:p14="http://schemas.microsoft.com/office/powerpoint/2010/main" val="441189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AE8EB-F326-0AC1-7E3A-DF7F4389FB1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7571C9C-07D2-E62F-D98F-EC0A6B4752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0DBA77-4637-EF44-FC6B-3C4434EAE476}"/>
              </a:ext>
            </a:extLst>
          </p:cNvPr>
          <p:cNvSpPr>
            <a:spLocks noGrp="1"/>
          </p:cNvSpPr>
          <p:nvPr>
            <p:ph type="dt" sz="half" idx="10"/>
          </p:nvPr>
        </p:nvSpPr>
        <p:spPr/>
        <p:txBody>
          <a:bodyPr/>
          <a:lstStyle/>
          <a:p>
            <a:fld id="{56F43BB6-B026-4D76-A884-68DBC5C3169E}" type="datetimeFigureOut">
              <a:rPr lang="en-IN" smtClean="0"/>
              <a:t>27-11-2025</a:t>
            </a:fld>
            <a:endParaRPr lang="en-IN"/>
          </a:p>
        </p:txBody>
      </p:sp>
      <p:sp>
        <p:nvSpPr>
          <p:cNvPr id="5" name="Footer Placeholder 4">
            <a:extLst>
              <a:ext uri="{FF2B5EF4-FFF2-40B4-BE49-F238E27FC236}">
                <a16:creationId xmlns:a16="http://schemas.microsoft.com/office/drawing/2014/main" id="{1934005F-1BD0-52D8-233F-524286A6E7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59B87C-A231-337B-EBE9-866B71A798FA}"/>
              </a:ext>
            </a:extLst>
          </p:cNvPr>
          <p:cNvSpPr>
            <a:spLocks noGrp="1"/>
          </p:cNvSpPr>
          <p:nvPr>
            <p:ph type="sldNum" sz="quarter" idx="12"/>
          </p:nvPr>
        </p:nvSpPr>
        <p:spPr/>
        <p:txBody>
          <a:bodyPr/>
          <a:lstStyle/>
          <a:p>
            <a:fld id="{397EE92A-FD82-4682-A6E4-ACD02626366E}" type="slidenum">
              <a:rPr lang="en-IN" smtClean="0"/>
              <a:t>‹#›</a:t>
            </a:fld>
            <a:endParaRPr lang="en-IN"/>
          </a:p>
        </p:txBody>
      </p:sp>
    </p:spTree>
    <p:extLst>
      <p:ext uri="{BB962C8B-B14F-4D97-AF65-F5344CB8AC3E}">
        <p14:creationId xmlns:p14="http://schemas.microsoft.com/office/powerpoint/2010/main" val="3905789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2283E8-BE71-812B-7EA5-A6A2558BC31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2352506-6A83-4CFB-3327-BE154C2001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A54F6F-3461-F291-0EB9-80502EE92322}"/>
              </a:ext>
            </a:extLst>
          </p:cNvPr>
          <p:cNvSpPr>
            <a:spLocks noGrp="1"/>
          </p:cNvSpPr>
          <p:nvPr>
            <p:ph type="dt" sz="half" idx="10"/>
          </p:nvPr>
        </p:nvSpPr>
        <p:spPr/>
        <p:txBody>
          <a:bodyPr/>
          <a:lstStyle/>
          <a:p>
            <a:fld id="{56F43BB6-B026-4D76-A884-68DBC5C3169E}" type="datetimeFigureOut">
              <a:rPr lang="en-IN" smtClean="0"/>
              <a:t>27-11-2025</a:t>
            </a:fld>
            <a:endParaRPr lang="en-IN"/>
          </a:p>
        </p:txBody>
      </p:sp>
      <p:sp>
        <p:nvSpPr>
          <p:cNvPr id="5" name="Footer Placeholder 4">
            <a:extLst>
              <a:ext uri="{FF2B5EF4-FFF2-40B4-BE49-F238E27FC236}">
                <a16:creationId xmlns:a16="http://schemas.microsoft.com/office/drawing/2014/main" id="{67FA7B59-7F59-1DFF-3C8C-03B02299AD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D18CD6-39F2-BAC5-7556-6A51A22F4671}"/>
              </a:ext>
            </a:extLst>
          </p:cNvPr>
          <p:cNvSpPr>
            <a:spLocks noGrp="1"/>
          </p:cNvSpPr>
          <p:nvPr>
            <p:ph type="sldNum" sz="quarter" idx="12"/>
          </p:nvPr>
        </p:nvSpPr>
        <p:spPr/>
        <p:txBody>
          <a:bodyPr/>
          <a:lstStyle/>
          <a:p>
            <a:fld id="{397EE92A-FD82-4682-A6E4-ACD02626366E}" type="slidenum">
              <a:rPr lang="en-IN" smtClean="0"/>
              <a:t>‹#›</a:t>
            </a:fld>
            <a:endParaRPr lang="en-IN"/>
          </a:p>
        </p:txBody>
      </p:sp>
    </p:spTree>
    <p:extLst>
      <p:ext uri="{BB962C8B-B14F-4D97-AF65-F5344CB8AC3E}">
        <p14:creationId xmlns:p14="http://schemas.microsoft.com/office/powerpoint/2010/main" val="419660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8C8CF9-DC60-4F2D-5AC4-B88A5342EE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A3D00A5-32AE-E823-6841-5BBC4C023A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EFE5B6-975F-C87D-120F-BCDA44179D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F43BB6-B026-4D76-A884-68DBC5C3169E}" type="datetimeFigureOut">
              <a:rPr lang="en-IN" smtClean="0"/>
              <a:t>27-11-2025</a:t>
            </a:fld>
            <a:endParaRPr lang="en-IN"/>
          </a:p>
        </p:txBody>
      </p:sp>
      <p:sp>
        <p:nvSpPr>
          <p:cNvPr id="5" name="Footer Placeholder 4">
            <a:extLst>
              <a:ext uri="{FF2B5EF4-FFF2-40B4-BE49-F238E27FC236}">
                <a16:creationId xmlns:a16="http://schemas.microsoft.com/office/drawing/2014/main" id="{B524F4D3-E365-5524-A6D6-94D5030660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8ED038F-2FB5-F121-2219-2FBCEF886A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7EE92A-FD82-4682-A6E4-ACD02626366E}" type="slidenum">
              <a:rPr lang="en-IN" smtClean="0"/>
              <a:t>‹#›</a:t>
            </a:fld>
            <a:endParaRPr lang="en-IN"/>
          </a:p>
        </p:txBody>
      </p:sp>
    </p:spTree>
    <p:extLst>
      <p:ext uri="{BB962C8B-B14F-4D97-AF65-F5344CB8AC3E}">
        <p14:creationId xmlns:p14="http://schemas.microsoft.com/office/powerpoint/2010/main" val="30474089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diagramLayout" Target="../diagrams/layout4.xml"/><Relationship Id="rId13" Type="http://schemas.openxmlformats.org/officeDocument/2006/relationships/diagramLayout" Target="../diagrams/layout5.xml"/><Relationship Id="rId3" Type="http://schemas.openxmlformats.org/officeDocument/2006/relationships/diagramLayout" Target="../diagrams/layout3.xml"/><Relationship Id="rId7" Type="http://schemas.openxmlformats.org/officeDocument/2006/relationships/diagramData" Target="../diagrams/data4.xml"/><Relationship Id="rId12" Type="http://schemas.openxmlformats.org/officeDocument/2006/relationships/diagramData" Target="../diagrams/data5.xml"/><Relationship Id="rId2" Type="http://schemas.openxmlformats.org/officeDocument/2006/relationships/diagramData" Target="../diagrams/data3.xml"/><Relationship Id="rId16" Type="http://schemas.microsoft.com/office/2007/relationships/diagramDrawing" Target="../diagrams/drawing5.xml"/><Relationship Id="rId1" Type="http://schemas.openxmlformats.org/officeDocument/2006/relationships/slideLayout" Target="../slideLayouts/slideLayout2.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5" Type="http://schemas.openxmlformats.org/officeDocument/2006/relationships/diagramColors" Target="../diagrams/colors5.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 Id="rId14" Type="http://schemas.openxmlformats.org/officeDocument/2006/relationships/diagramQuickStyle" Target="../diagrams/quickStyl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371658-2C4E-0FAF-D7E2-506EE5FBEC9A}"/>
              </a:ext>
            </a:extLst>
          </p:cNvPr>
          <p:cNvSpPr>
            <a:spLocks noGrp="1"/>
          </p:cNvSpPr>
          <p:nvPr>
            <p:ph type="ctrTitle"/>
          </p:nvPr>
        </p:nvSpPr>
        <p:spPr>
          <a:xfrm>
            <a:off x="1524000" y="2104103"/>
            <a:ext cx="9144000" cy="1042066"/>
          </a:xfrm>
        </p:spPr>
        <p:txBody>
          <a:bodyPr>
            <a:normAutofit/>
          </a:bodyPr>
          <a:lstStyle/>
          <a:p>
            <a:r>
              <a:rPr lang="en-US" sz="3200" b="1" dirty="0">
                <a:latin typeface="Times New Roman" panose="02020603050405020304" pitchFamily="18" charset="0"/>
                <a:cs typeface="Times New Roman" panose="02020603050405020304" pitchFamily="18" charset="0"/>
              </a:rPr>
              <a:t>Comparison Of Multiple Algorithms For Stock Price Prediction Based On Accuracy</a:t>
            </a:r>
            <a:endParaRPr lang="en-IN" sz="3200"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E5931698-5777-F5CF-BD43-BDE8C8974E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290" y="132774"/>
            <a:ext cx="11849877" cy="2051510"/>
          </a:xfrm>
          <a:prstGeom prst="rect">
            <a:avLst/>
          </a:prstGeom>
        </p:spPr>
      </p:pic>
      <p:graphicFrame>
        <p:nvGraphicFramePr>
          <p:cNvPr id="2" name="Table 2">
            <a:extLst>
              <a:ext uri="{FF2B5EF4-FFF2-40B4-BE49-F238E27FC236}">
                <a16:creationId xmlns:a16="http://schemas.microsoft.com/office/drawing/2014/main" id="{565A247D-F2E5-F679-4684-E5D59A6E5411}"/>
              </a:ext>
            </a:extLst>
          </p:cNvPr>
          <p:cNvGraphicFramePr>
            <a:graphicFrameLocks noGrp="1"/>
          </p:cNvGraphicFramePr>
          <p:nvPr>
            <p:extLst>
              <p:ext uri="{D42A27DB-BD31-4B8C-83A1-F6EECF244321}">
                <p14:modId xmlns:p14="http://schemas.microsoft.com/office/powerpoint/2010/main" val="1479272914"/>
              </p:ext>
            </p:extLst>
          </p:nvPr>
        </p:nvGraphicFramePr>
        <p:xfrm>
          <a:off x="2010228" y="3264310"/>
          <a:ext cx="8128000" cy="3388635"/>
        </p:xfrm>
        <a:graphic>
          <a:graphicData uri="http://schemas.openxmlformats.org/drawingml/2006/table">
            <a:tbl>
              <a:tblPr firstRow="1" bandRow="1">
                <a:tableStyleId>{5940675A-B579-460E-94D1-54222C63F5DA}</a:tableStyleId>
              </a:tblPr>
              <a:tblGrid>
                <a:gridCol w="8128000">
                  <a:extLst>
                    <a:ext uri="{9D8B030D-6E8A-4147-A177-3AD203B41FA5}">
                      <a16:colId xmlns:a16="http://schemas.microsoft.com/office/drawing/2014/main" val="1843673250"/>
                    </a:ext>
                  </a:extLst>
                </a:gridCol>
              </a:tblGrid>
              <a:tr h="376515">
                <a:tc>
                  <a:txBody>
                    <a:bodyPr/>
                    <a:lstStyle/>
                    <a:p>
                      <a:pPr algn="ctr"/>
                      <a:r>
                        <a:rPr lang="en-IN" strike="noStrike" dirty="0"/>
                        <a:t>  K Chandra Priya(1SJ23AD021)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3343392"/>
                  </a:ext>
                </a:extLst>
              </a:tr>
              <a:tr h="376515">
                <a:tc>
                  <a:txBody>
                    <a:bodyPr/>
                    <a:lstStyle/>
                    <a:p>
                      <a:pPr algn="ctr"/>
                      <a:r>
                        <a:rPr lang="en-IN" strike="noStrike" dirty="0"/>
                        <a:t>S Bhavya </a:t>
                      </a:r>
                      <a:r>
                        <a:rPr lang="en-IN" strike="noStrike" dirty="0" err="1"/>
                        <a:t>Sree</a:t>
                      </a:r>
                      <a:r>
                        <a:rPr lang="en-IN" strike="noStrike" dirty="0"/>
                        <a:t> (1SJ23AD051)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74451174"/>
                  </a:ext>
                </a:extLst>
              </a:tr>
              <a:tr h="376515">
                <a:tc>
                  <a:txBody>
                    <a:bodyPr/>
                    <a:lstStyle/>
                    <a:p>
                      <a:pPr algn="ctr"/>
                      <a:r>
                        <a:rPr lang="en-IN" strike="noStrike" dirty="0"/>
                        <a:t>    Pallavi B . Gowda(1SJ23AD035)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2766718"/>
                  </a:ext>
                </a:extLst>
              </a:tr>
              <a:tr h="376515">
                <a:tc>
                  <a:txBody>
                    <a:bodyPr/>
                    <a:lstStyle/>
                    <a:p>
                      <a:pPr algn="ctr"/>
                      <a:r>
                        <a:rPr lang="en-IN" strike="noStrike" dirty="0"/>
                        <a:t>    M . </a:t>
                      </a:r>
                      <a:r>
                        <a:rPr lang="en-IN" strike="noStrike" dirty="0" err="1"/>
                        <a:t>Gagana</a:t>
                      </a:r>
                      <a:r>
                        <a:rPr lang="en-IN" strike="noStrike" dirty="0"/>
                        <a:t> </a:t>
                      </a:r>
                      <a:r>
                        <a:rPr lang="en-IN" strike="noStrike" dirty="0" err="1"/>
                        <a:t>Sree</a:t>
                      </a:r>
                      <a:r>
                        <a:rPr lang="en-IN" strike="noStrike" dirty="0"/>
                        <a:t> (1SJ23AD028)</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15849009"/>
                  </a:ext>
                </a:extLst>
              </a:tr>
              <a:tr h="376515">
                <a:tc>
                  <a:txBody>
                    <a:bodyPr/>
                    <a:lstStyle/>
                    <a:p>
                      <a:pPr algn="ctr"/>
                      <a:endParaRPr lang="en-IN" strike="noStrik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41203059"/>
                  </a:ext>
                </a:extLst>
              </a:tr>
              <a:tr h="376515">
                <a:tc>
                  <a:txBody>
                    <a:bodyPr/>
                    <a:lstStyle/>
                    <a:p>
                      <a:pPr algn="ctr"/>
                      <a:endParaRPr lang="en-IN" strike="noStrik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47212223"/>
                  </a:ext>
                </a:extLst>
              </a:tr>
              <a:tr h="376515">
                <a:tc>
                  <a:txBody>
                    <a:bodyPr/>
                    <a:lstStyle/>
                    <a:p>
                      <a:pPr algn="ctr"/>
                      <a:r>
                        <a:rPr lang="en-IN" strike="noStrike" dirty="0"/>
                        <a:t>Under the guidance of</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74079982"/>
                  </a:ext>
                </a:extLst>
              </a:tr>
              <a:tr h="376515">
                <a:tc>
                  <a:txBody>
                    <a:bodyPr/>
                    <a:lstStyle/>
                    <a:p>
                      <a:pPr algn="ctr"/>
                      <a:r>
                        <a:rPr lang="en-IN" strike="noStrike" dirty="0" err="1"/>
                        <a:t>Mr.Darshan</a:t>
                      </a:r>
                      <a:r>
                        <a:rPr lang="en-IN" strike="noStrike" dirty="0"/>
                        <a:t> 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23727194"/>
                  </a:ext>
                </a:extLst>
              </a:tr>
              <a:tr h="376515">
                <a:tc>
                  <a:txBody>
                    <a:bodyPr/>
                    <a:lstStyle/>
                    <a:p>
                      <a:pPr algn="ctr"/>
                      <a:r>
                        <a:rPr lang="en-IN" strike="noStrike" dirty="0"/>
                        <a:t>Assistant Professor, Dept of AI&amp;DS,SJCIT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96623325"/>
                  </a:ext>
                </a:extLst>
              </a:tr>
            </a:tbl>
          </a:graphicData>
        </a:graphic>
      </p:graphicFrame>
    </p:spTree>
    <p:extLst>
      <p:ext uri="{BB962C8B-B14F-4D97-AF65-F5344CB8AC3E}">
        <p14:creationId xmlns:p14="http://schemas.microsoft.com/office/powerpoint/2010/main" val="4452352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101D2-05BF-80A1-223D-9C698D2EF730}"/>
              </a:ext>
            </a:extLst>
          </p:cNvPr>
          <p:cNvSpPr>
            <a:spLocks noGrp="1"/>
          </p:cNvSpPr>
          <p:nvPr>
            <p:ph type="ctrTitle"/>
          </p:nvPr>
        </p:nvSpPr>
        <p:spPr>
          <a:xfrm>
            <a:off x="242595" y="-457199"/>
            <a:ext cx="11112759" cy="1539551"/>
          </a:xfrm>
        </p:spPr>
        <p:txBody>
          <a:bodyPr>
            <a:normAutofit/>
          </a:bodyPr>
          <a:lstStyle/>
          <a:p>
            <a:r>
              <a:rPr lang="en-IN" sz="4400" b="1" dirty="0">
                <a:latin typeface="Times New Roman" panose="02020603050405020304" pitchFamily="18" charset="0"/>
                <a:cs typeface="Times New Roman" panose="02020603050405020304" pitchFamily="18" charset="0"/>
              </a:rPr>
              <a:t>ABSTRACT</a:t>
            </a:r>
          </a:p>
        </p:txBody>
      </p:sp>
      <p:sp>
        <p:nvSpPr>
          <p:cNvPr id="3" name="Subtitle 2">
            <a:extLst>
              <a:ext uri="{FF2B5EF4-FFF2-40B4-BE49-F238E27FC236}">
                <a16:creationId xmlns:a16="http://schemas.microsoft.com/office/drawing/2014/main" id="{E86EC1CC-E083-03FB-D9AB-ABFA8B2349A9}"/>
              </a:ext>
            </a:extLst>
          </p:cNvPr>
          <p:cNvSpPr>
            <a:spLocks noGrp="1"/>
          </p:cNvSpPr>
          <p:nvPr>
            <p:ph type="subTitle" idx="1"/>
          </p:nvPr>
        </p:nvSpPr>
        <p:spPr>
          <a:xfrm>
            <a:off x="539621" y="1259633"/>
            <a:ext cx="11112758" cy="4516015"/>
          </a:xfrm>
        </p:spPr>
        <p:txBody>
          <a:bodyPr anchor="ctr">
            <a:normAutofit/>
          </a:bodyPr>
          <a:lstStyle/>
          <a:p>
            <a:pPr algn="just">
              <a:lnSpc>
                <a:spcPct val="150000"/>
              </a:lnSpc>
            </a:pPr>
            <a:r>
              <a:rPr lang="en-US" dirty="0">
                <a:latin typeface="Times New Roman" panose="02020603050405020304" pitchFamily="18" charset="0"/>
                <a:cs typeface="Times New Roman" panose="02020603050405020304" pitchFamily="18" charset="0"/>
              </a:rPr>
              <a:t>The stock market plays a vital role in the economy, and predicting a real-world challenge. By comparing multiple Algorithms, we can find the most efficient algorithm for predicting future stock prices, which makes our project unique and valuable. </a:t>
            </a:r>
          </a:p>
          <a:p>
            <a:pPr algn="just">
              <a:lnSpc>
                <a:spcPct val="150000"/>
              </a:lnSpc>
            </a:pPr>
            <a:r>
              <a:rPr lang="en-US" dirty="0">
                <a:latin typeface="Times New Roman" panose="02020603050405020304" pitchFamily="18" charset="0"/>
                <a:cs typeface="Times New Roman" panose="02020603050405020304" pitchFamily="18" charset="0"/>
              </a:rPr>
              <a:t>Stock prices change every day and are hard to predict. In this project, different AI algorithms such as Linear Regression, Random forest, prophet and LSTM are compared to find which one predicts better. </a:t>
            </a:r>
          </a:p>
        </p:txBody>
      </p:sp>
    </p:spTree>
    <p:extLst>
      <p:ext uri="{BB962C8B-B14F-4D97-AF65-F5344CB8AC3E}">
        <p14:creationId xmlns:p14="http://schemas.microsoft.com/office/powerpoint/2010/main" val="3268350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59144-8948-2025-1982-B2749E9FCE86}"/>
              </a:ext>
            </a:extLst>
          </p:cNvPr>
          <p:cNvSpPr>
            <a:spLocks noGrp="1"/>
          </p:cNvSpPr>
          <p:nvPr>
            <p:ph type="title"/>
          </p:nvPr>
        </p:nvSpPr>
        <p:spPr>
          <a:xfrm>
            <a:off x="838200" y="335628"/>
            <a:ext cx="10515600" cy="1325563"/>
          </a:xfrm>
        </p:spPr>
        <p:txBody>
          <a:bodyPr/>
          <a:lstStyle/>
          <a:p>
            <a:pPr algn="ctr"/>
            <a:r>
              <a:rPr lang="en-IN"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0CEFBC76-9C69-9B94-DC54-967FB40C4BED}"/>
              </a:ext>
            </a:extLst>
          </p:cNvPr>
          <p:cNvSpPr>
            <a:spLocks noGrp="1"/>
          </p:cNvSpPr>
          <p:nvPr>
            <p:ph idx="1"/>
          </p:nvPr>
        </p:nvSpPr>
        <p:spPr/>
        <p:txBody>
          <a:bodyPr>
            <a:normAutofit/>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A stock means you own a small part (share) of a company. Stock markets are highly dynamic and influenced by several factors such as economic news, company performance and global events. We focus on comparing multiple algorithms for stock price prediction based on accuracy. We use historical stock price data and apply multiple algorithms. Each algorithm has its own way of learning patterns from past data.</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85780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89853" y="102637"/>
            <a:ext cx="5561045" cy="461665"/>
          </a:xfrm>
          <a:prstGeom prst="rect">
            <a:avLst/>
          </a:prstGeom>
        </p:spPr>
        <p:txBody>
          <a:bodyPr wrap="square">
            <a:spAutoFit/>
          </a:bodyPr>
          <a:lstStyle/>
          <a:p>
            <a:pPr algn="ctr"/>
            <a:r>
              <a:rPr lang="en-IN" sz="2400" b="1" dirty="0">
                <a:latin typeface="Times New Roman" panose="02020603050405020304" pitchFamily="18" charset="0"/>
                <a:cs typeface="Times New Roman" panose="02020603050405020304" pitchFamily="18" charset="0"/>
              </a:rPr>
              <a:t>LITERATURE SURVEY</a:t>
            </a:r>
          </a:p>
        </p:txBody>
      </p:sp>
      <p:graphicFrame>
        <p:nvGraphicFramePr>
          <p:cNvPr id="5" name="Table 5">
            <a:extLst>
              <a:ext uri="{FF2B5EF4-FFF2-40B4-BE49-F238E27FC236}">
                <a16:creationId xmlns:a16="http://schemas.microsoft.com/office/drawing/2014/main" id="{EE3D4261-011B-AFB3-E76D-F61F06277B9F}"/>
              </a:ext>
            </a:extLst>
          </p:cNvPr>
          <p:cNvGraphicFramePr>
            <a:graphicFrameLocks noGrp="1"/>
          </p:cNvGraphicFramePr>
          <p:nvPr>
            <p:extLst>
              <p:ext uri="{D42A27DB-BD31-4B8C-83A1-F6EECF244321}">
                <p14:modId xmlns:p14="http://schemas.microsoft.com/office/powerpoint/2010/main" val="2197197739"/>
              </p:ext>
            </p:extLst>
          </p:nvPr>
        </p:nvGraphicFramePr>
        <p:xfrm>
          <a:off x="121298" y="737117"/>
          <a:ext cx="11968065" cy="6018247"/>
        </p:xfrm>
        <a:graphic>
          <a:graphicData uri="http://schemas.openxmlformats.org/drawingml/2006/table">
            <a:tbl>
              <a:tblPr firstRow="1" bandRow="1">
                <a:tableStyleId>{F5AB1C69-6EDB-4FF4-983F-18BD219EF322}</a:tableStyleId>
              </a:tblPr>
              <a:tblGrid>
                <a:gridCol w="573207">
                  <a:extLst>
                    <a:ext uri="{9D8B030D-6E8A-4147-A177-3AD203B41FA5}">
                      <a16:colId xmlns:a16="http://schemas.microsoft.com/office/drawing/2014/main" val="2530921436"/>
                    </a:ext>
                  </a:extLst>
                </a:gridCol>
                <a:gridCol w="1996778">
                  <a:extLst>
                    <a:ext uri="{9D8B030D-6E8A-4147-A177-3AD203B41FA5}">
                      <a16:colId xmlns:a16="http://schemas.microsoft.com/office/drawing/2014/main" val="1027357820"/>
                    </a:ext>
                  </a:extLst>
                </a:gridCol>
                <a:gridCol w="2872335">
                  <a:extLst>
                    <a:ext uri="{9D8B030D-6E8A-4147-A177-3AD203B41FA5}">
                      <a16:colId xmlns:a16="http://schemas.microsoft.com/office/drawing/2014/main" val="1571093669"/>
                    </a:ext>
                  </a:extLst>
                </a:gridCol>
                <a:gridCol w="2173149">
                  <a:extLst>
                    <a:ext uri="{9D8B030D-6E8A-4147-A177-3AD203B41FA5}">
                      <a16:colId xmlns:a16="http://schemas.microsoft.com/office/drawing/2014/main" val="1337991162"/>
                    </a:ext>
                  </a:extLst>
                </a:gridCol>
                <a:gridCol w="2179447">
                  <a:extLst>
                    <a:ext uri="{9D8B030D-6E8A-4147-A177-3AD203B41FA5}">
                      <a16:colId xmlns:a16="http://schemas.microsoft.com/office/drawing/2014/main" val="3242974871"/>
                    </a:ext>
                  </a:extLst>
                </a:gridCol>
                <a:gridCol w="2173149">
                  <a:extLst>
                    <a:ext uri="{9D8B030D-6E8A-4147-A177-3AD203B41FA5}">
                      <a16:colId xmlns:a16="http://schemas.microsoft.com/office/drawing/2014/main" val="203202207"/>
                    </a:ext>
                  </a:extLst>
                </a:gridCol>
              </a:tblGrid>
              <a:tr h="1036636">
                <a:tc>
                  <a:txBody>
                    <a:bodyPr/>
                    <a:lstStyle/>
                    <a:p>
                      <a:r>
                        <a:rPr lang="en-US" dirty="0">
                          <a:latin typeface="Times New Roman" panose="02020603050405020304" pitchFamily="18" charset="0"/>
                          <a:cs typeface="Times New Roman" panose="02020603050405020304" pitchFamily="18" charset="0"/>
                        </a:rPr>
                        <a:t>SL.NO</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AUTHOR NAME</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TITLE OF RESEARCH PAPER</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ADVANTAGES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DISADVANTAGES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IMPLEMENTATION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30036437"/>
                  </a:ext>
                </a:extLst>
              </a:tr>
              <a:tr h="1820957">
                <a:tc>
                  <a:txBody>
                    <a:bodyPr/>
                    <a:lstStyle/>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 Kumar, R . Mehta(2021)</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Accuracy Comparison of LSTM , Random Forest , and Linear Regression for Stock Prediction</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LSTM works well on time series trends. Random Forest handles non linear patterns . Linear Regression is Simple</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LSTM needs more training time . RF can overfit.</a:t>
                      </a:r>
                    </a:p>
                    <a:p>
                      <a:r>
                        <a:rPr lang="en-US" dirty="0">
                          <a:latin typeface="Times New Roman" panose="02020603050405020304" pitchFamily="18" charset="0"/>
                          <a:cs typeface="Times New Roman" panose="02020603050405020304" pitchFamily="18" charset="0"/>
                        </a:rPr>
                        <a:t>Linear Regression has low accuracy</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Used historical stock data set(2010-2020);preprocessing with scaling ; implemented three models.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84267223"/>
                  </a:ext>
                </a:extLst>
              </a:tr>
              <a:tr h="1580327">
                <a:tc>
                  <a:txBody>
                    <a:bodyPr/>
                    <a:lstStyle/>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 . Banerjee(2020)</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Deep Learning vs Traditional ML Approaches in Financial  Forecasting</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Deep models detect complex signals. high accuracy in volatile markets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Requires high computation.</a:t>
                      </a:r>
                    </a:p>
                    <a:p>
                      <a:r>
                        <a:rPr lang="en-US" dirty="0">
                          <a:latin typeface="Times New Roman" panose="02020603050405020304" pitchFamily="18" charset="0"/>
                          <a:cs typeface="Times New Roman" panose="02020603050405020304" pitchFamily="18" charset="0"/>
                        </a:rPr>
                        <a:t>Traditional models fail in trend reversals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Implemented LSTM, using python </a:t>
                      </a:r>
                      <a:r>
                        <a:rPr lang="en-US" dirty="0" err="1">
                          <a:latin typeface="Times New Roman" panose="02020603050405020304" pitchFamily="18" charset="0"/>
                          <a:cs typeface="Times New Roman" panose="02020603050405020304" pitchFamily="18" charset="0"/>
                        </a:rPr>
                        <a:t>Sklearn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Compared performance over multi year data</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20120791"/>
                  </a:ext>
                </a:extLst>
              </a:tr>
              <a:tr h="1580327">
                <a:tc>
                  <a:txBody>
                    <a:bodyPr/>
                    <a:lstStyle/>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3</a:t>
                      </a:r>
                    </a:p>
                  </a:txBody>
                  <a:tcPr/>
                </a:tc>
                <a:tc>
                  <a:txBody>
                    <a:bodyPr/>
                    <a:lstStyle/>
                    <a:p>
                      <a:r>
                        <a:rPr lang="en-IN" dirty="0">
                          <a:latin typeface="Times New Roman" panose="02020603050405020304" pitchFamily="18" charset="0"/>
                          <a:cs typeface="Times New Roman" panose="02020603050405020304" pitchFamily="18" charset="0"/>
                        </a:rPr>
                        <a:t>M . Patel , </a:t>
                      </a:r>
                    </a:p>
                    <a:p>
                      <a:r>
                        <a:rPr lang="en-IN" dirty="0">
                          <a:latin typeface="Times New Roman" panose="02020603050405020304" pitchFamily="18" charset="0"/>
                          <a:cs typeface="Times New Roman" panose="02020603050405020304" pitchFamily="18" charset="0"/>
                        </a:rPr>
                        <a:t>k. Singh (2022)</a:t>
                      </a:r>
                    </a:p>
                  </a:txBody>
                  <a:tcPr/>
                </a:tc>
                <a:tc>
                  <a:txBody>
                    <a:bodyPr/>
                    <a:lstStyle/>
                    <a:p>
                      <a:r>
                        <a:rPr lang="en-IN" dirty="0">
                          <a:latin typeface="Times New Roman" panose="02020603050405020304" pitchFamily="18" charset="0"/>
                          <a:cs typeface="Times New Roman" panose="02020603050405020304" pitchFamily="18" charset="0"/>
                        </a:rPr>
                        <a:t>Hybrid LSTM-Random Forest Model for stock price </a:t>
                      </a:r>
                    </a:p>
                    <a:p>
                      <a:r>
                        <a:rPr lang="en-IN" dirty="0">
                          <a:latin typeface="Times New Roman" panose="02020603050405020304" pitchFamily="18" charset="0"/>
                          <a:cs typeface="Times New Roman" panose="02020603050405020304" pitchFamily="18" charset="0"/>
                        </a:rPr>
                        <a:t>movement</a:t>
                      </a:r>
                    </a:p>
                  </a:txBody>
                  <a:tcPr/>
                </a:tc>
                <a:tc>
                  <a:txBody>
                    <a:bodyPr/>
                    <a:lstStyle/>
                    <a:p>
                      <a:r>
                        <a:rPr lang="en-IN" dirty="0">
                          <a:latin typeface="Times New Roman" panose="02020603050405020304" pitchFamily="18" charset="0"/>
                          <a:cs typeface="Times New Roman" panose="02020603050405020304" pitchFamily="18" charset="0"/>
                        </a:rPr>
                        <a:t>Hybrid method reduces prediction error . more stable error more stable than single models</a:t>
                      </a:r>
                    </a:p>
                  </a:txBody>
                  <a:tcPr/>
                </a:tc>
                <a:tc>
                  <a:txBody>
                    <a:bodyPr/>
                    <a:lstStyle/>
                    <a:p>
                      <a:r>
                        <a:rPr lang="en-IN" dirty="0">
                          <a:latin typeface="Times New Roman" panose="02020603050405020304" pitchFamily="18" charset="0"/>
                          <a:cs typeface="Times New Roman" panose="02020603050405020304" pitchFamily="18" charset="0"/>
                        </a:rPr>
                        <a:t>More complex architecture</a:t>
                      </a:r>
                    </a:p>
                    <a:p>
                      <a:r>
                        <a:rPr lang="en-IN" dirty="0">
                          <a:latin typeface="Times New Roman" panose="02020603050405020304" pitchFamily="18" charset="0"/>
                          <a:cs typeface="Times New Roman" panose="02020603050405020304" pitchFamily="18" charset="0"/>
                        </a:rPr>
                        <a:t>Long training time</a:t>
                      </a:r>
                    </a:p>
                  </a:txBody>
                  <a:tcPr/>
                </a:tc>
                <a:tc>
                  <a:txBody>
                    <a:bodyPr/>
                    <a:lstStyle/>
                    <a:p>
                      <a:r>
                        <a:rPr lang="en-IN" dirty="0">
                          <a:latin typeface="Times New Roman" panose="02020603050405020304" pitchFamily="18" charset="0"/>
                          <a:cs typeface="Times New Roman" panose="02020603050405020304" pitchFamily="18" charset="0"/>
                        </a:rPr>
                        <a:t>Combined RF for feature selection + LSTM for prediction; tested on NSE daily data</a:t>
                      </a:r>
                    </a:p>
                  </a:txBody>
                  <a:tcPr/>
                </a:tc>
                <a:extLst>
                  <a:ext uri="{0D108BD9-81ED-4DB2-BD59-A6C34878D82A}">
                    <a16:rowId xmlns:a16="http://schemas.microsoft.com/office/drawing/2014/main" val="4129691073"/>
                  </a:ext>
                </a:extLst>
              </a:tr>
            </a:tbl>
          </a:graphicData>
        </a:graphic>
      </p:graphicFrame>
    </p:spTree>
    <p:extLst>
      <p:ext uri="{BB962C8B-B14F-4D97-AF65-F5344CB8AC3E}">
        <p14:creationId xmlns:p14="http://schemas.microsoft.com/office/powerpoint/2010/main" val="2830669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32DBB-94D2-EADA-68B6-7943AFD3641B}"/>
              </a:ext>
            </a:extLst>
          </p:cNvPr>
          <p:cNvSpPr>
            <a:spLocks noGrp="1"/>
          </p:cNvSpPr>
          <p:nvPr>
            <p:ph type="ctrTitle"/>
          </p:nvPr>
        </p:nvSpPr>
        <p:spPr>
          <a:xfrm>
            <a:off x="1524000" y="251927"/>
            <a:ext cx="9144000" cy="774440"/>
          </a:xfrm>
        </p:spPr>
        <p:txBody>
          <a:bodyPr>
            <a:normAutofit/>
          </a:bodyPr>
          <a:lstStyle/>
          <a:p>
            <a:r>
              <a:rPr lang="en-IN" sz="4400" b="1" dirty="0">
                <a:latin typeface="Times New Roman" panose="02020603050405020304" pitchFamily="18" charset="0"/>
                <a:cs typeface="Times New Roman" panose="02020603050405020304" pitchFamily="18" charset="0"/>
              </a:rPr>
              <a:t>PROBLEM STATEMENT</a:t>
            </a:r>
          </a:p>
        </p:txBody>
      </p:sp>
      <p:sp>
        <p:nvSpPr>
          <p:cNvPr id="3" name="Subtitle 2">
            <a:extLst>
              <a:ext uri="{FF2B5EF4-FFF2-40B4-BE49-F238E27FC236}">
                <a16:creationId xmlns:a16="http://schemas.microsoft.com/office/drawing/2014/main" id="{9CB4A515-BC37-F673-7702-B604CBC97FF7}"/>
              </a:ext>
            </a:extLst>
          </p:cNvPr>
          <p:cNvSpPr>
            <a:spLocks noGrp="1"/>
          </p:cNvSpPr>
          <p:nvPr>
            <p:ph type="subTitle" idx="1"/>
          </p:nvPr>
        </p:nvSpPr>
        <p:spPr>
          <a:xfrm>
            <a:off x="1524000" y="1788593"/>
            <a:ext cx="9144000" cy="3617032"/>
          </a:xfrm>
        </p:spPr>
        <p:txBody>
          <a:bodyPr>
            <a:normAutofit/>
          </a:bodyPr>
          <a:lstStyle/>
          <a:p>
            <a:pPr algn="just">
              <a:lnSpc>
                <a:spcPct val="150000"/>
              </a:lnSpc>
            </a:pPr>
            <a:r>
              <a:rPr lang="en-US" dirty="0">
                <a:latin typeface="Times New Roman" panose="02020603050405020304" pitchFamily="18" charset="0"/>
                <a:cs typeface="Times New Roman" panose="02020603050405020304" pitchFamily="18" charset="0"/>
              </a:rPr>
              <a:t>The stock market is unpredictable, making price forecasting a big challenge. This project uses and compares different algorithms to predict stock prices. After testing models like LSTM, Random Forest, Prophet and Linear Regression.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40547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0951B-C85D-FB47-57F1-EEDC095C99F5}"/>
              </a:ext>
            </a:extLst>
          </p:cNvPr>
          <p:cNvSpPr>
            <a:spLocks noGrp="1"/>
          </p:cNvSpPr>
          <p:nvPr>
            <p:ph type="title"/>
          </p:nvPr>
        </p:nvSpPr>
        <p:spPr>
          <a:xfrm>
            <a:off x="2889437" y="289757"/>
            <a:ext cx="5579706" cy="793102"/>
          </a:xfrm>
        </p:spPr>
        <p:txBody>
          <a:bodyPr>
            <a:normAutofit/>
          </a:bodyPr>
          <a:lstStyle/>
          <a:p>
            <a:pPr algn="ctr"/>
            <a:r>
              <a:rPr lang="en-IN" b="1"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B615420C-E894-4326-6A09-D7DDA7F2BB4F}"/>
              </a:ext>
            </a:extLst>
          </p:cNvPr>
          <p:cNvSpPr>
            <a:spLocks noGrp="1"/>
          </p:cNvSpPr>
          <p:nvPr>
            <p:ph idx="1"/>
          </p:nvPr>
        </p:nvSpPr>
        <p:spPr>
          <a:xfrm>
            <a:off x="1380931" y="1651518"/>
            <a:ext cx="8892074" cy="4207393"/>
          </a:xfrm>
        </p:spPr>
        <p:txBody>
          <a:bodyPr>
            <a:normAutofit/>
          </a:bodyPr>
          <a:lstStyle/>
          <a:p>
            <a:pPr algn="just">
              <a:lnSpc>
                <a:spcPct val="150000"/>
              </a:lnSpc>
            </a:pPr>
            <a:r>
              <a:rPr lang="en-US" sz="2400" dirty="0">
                <a:latin typeface="Times New Roman" panose="02020603050405020304" pitchFamily="18" charset="0"/>
                <a:cs typeface="Times New Roman" panose="02020603050405020304" pitchFamily="18" charset="0"/>
              </a:rPr>
              <a:t>To analyze historical stock market data and identify patterns or trends that influence stock prices.</a:t>
            </a:r>
          </a:p>
          <a:p>
            <a:pPr algn="just">
              <a:lnSpc>
                <a:spcPct val="150000"/>
              </a:lnSpc>
            </a:pPr>
            <a:r>
              <a:rPr lang="en-US" sz="2400" dirty="0">
                <a:latin typeface="Times New Roman" panose="02020603050405020304" pitchFamily="18" charset="0"/>
                <a:cs typeface="Times New Roman" panose="02020603050405020304" pitchFamily="18" charset="0"/>
              </a:rPr>
              <a:t>To determine which algorithm provides the most accurate and reliable stock price predictions. </a:t>
            </a:r>
          </a:p>
          <a:p>
            <a:pPr algn="just">
              <a:lnSpc>
                <a:spcPct val="150000"/>
              </a:lnSpc>
            </a:pPr>
            <a:r>
              <a:rPr lang="en-US" sz="2400" dirty="0">
                <a:latin typeface="Times New Roman" panose="02020603050405020304" pitchFamily="18" charset="0"/>
                <a:cs typeface="Times New Roman" panose="02020603050405020304" pitchFamily="18" charset="0"/>
              </a:rPr>
              <a:t>Selection of best algorithm for the stock price prediction.</a:t>
            </a:r>
          </a:p>
        </p:txBody>
      </p:sp>
    </p:spTree>
    <p:extLst>
      <p:ext uri="{BB962C8B-B14F-4D97-AF65-F5344CB8AC3E}">
        <p14:creationId xmlns:p14="http://schemas.microsoft.com/office/powerpoint/2010/main" val="718761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1257" y="783771"/>
            <a:ext cx="11280710" cy="300544"/>
          </a:xfrm>
        </p:spPr>
        <p:txBody>
          <a:bodyPr>
            <a:noAutofit/>
          </a:bodyPr>
          <a:lstStyle/>
          <a:p>
            <a:pPr algn="ctr"/>
            <a:r>
              <a:rPr lang="en-IN" b="1" dirty="0">
                <a:latin typeface="Times New Roman" panose="02020603050405020304" pitchFamily="18" charset="0"/>
                <a:cs typeface="Times New Roman" panose="02020603050405020304" pitchFamily="18" charset="0"/>
              </a:rPr>
              <a:t>SOFTWARE SPECIATION REQUIREMENTS</a:t>
            </a:r>
          </a:p>
        </p:txBody>
      </p:sp>
      <p:sp>
        <p:nvSpPr>
          <p:cNvPr id="3" name="Content Placeholder 2"/>
          <p:cNvSpPr>
            <a:spLocks noGrp="1"/>
          </p:cNvSpPr>
          <p:nvPr>
            <p:ph idx="1"/>
          </p:nvPr>
        </p:nvSpPr>
        <p:spPr>
          <a:xfrm>
            <a:off x="1268963" y="2416629"/>
            <a:ext cx="9731829" cy="2118049"/>
          </a:xfrm>
        </p:spPr>
        <p:txBody>
          <a:bodyPr>
            <a:normAutofit fontScale="25000" lnSpcReduction="20000"/>
          </a:bodyPr>
          <a:lstStyle/>
          <a:p>
            <a:pPr marL="0" indent="0">
              <a:lnSpc>
                <a:spcPct val="170000"/>
              </a:lnSpc>
              <a:buNone/>
            </a:pPr>
            <a:endParaRPr lang="en-IN" sz="4400" b="1" dirty="0">
              <a:latin typeface="Times New Roman" panose="02020603050405020304" pitchFamily="18" charset="0"/>
              <a:cs typeface="Times New Roman" panose="02020603050405020304" pitchFamily="18" charset="0"/>
            </a:endParaRPr>
          </a:p>
          <a:p>
            <a:pPr lvl="1" algn="just">
              <a:lnSpc>
                <a:spcPct val="170000"/>
              </a:lnSpc>
            </a:pPr>
            <a:r>
              <a:rPr lang="en-IN" sz="9600" dirty="0">
                <a:latin typeface="Times New Roman" panose="02020603050405020304" pitchFamily="18" charset="0"/>
                <a:cs typeface="Times New Roman" panose="02020603050405020304" pitchFamily="18" charset="0"/>
              </a:rPr>
              <a:t>Python IDE (VS Code)</a:t>
            </a:r>
          </a:p>
          <a:p>
            <a:pPr lvl="1" algn="just">
              <a:lnSpc>
                <a:spcPct val="170000"/>
              </a:lnSpc>
            </a:pPr>
            <a:r>
              <a:rPr lang="en-IN" sz="9600" dirty="0">
                <a:latin typeface="Times New Roman" panose="02020603050405020304" pitchFamily="18" charset="0"/>
                <a:cs typeface="Times New Roman" panose="02020603050405020304" pitchFamily="18" charset="0"/>
              </a:rPr>
              <a:t>Libraries :NumPy , Pandas , Scikit-Learn, Matplotlib</a:t>
            </a:r>
          </a:p>
          <a:p>
            <a:pPr lvl="1" algn="just">
              <a:lnSpc>
                <a:spcPct val="170000"/>
              </a:lnSpc>
            </a:pPr>
            <a:r>
              <a:rPr lang="en-IN" sz="9600" dirty="0">
                <a:latin typeface="Times New Roman" panose="02020603050405020304" pitchFamily="18" charset="0"/>
                <a:cs typeface="Times New Roman" panose="02020603050405020304" pitchFamily="18" charset="0"/>
              </a:rPr>
              <a:t>Dataset: Historical stock prices (CSV)</a:t>
            </a:r>
          </a:p>
        </p:txBody>
      </p:sp>
    </p:spTree>
    <p:extLst>
      <p:ext uri="{BB962C8B-B14F-4D97-AF65-F5344CB8AC3E}">
        <p14:creationId xmlns:p14="http://schemas.microsoft.com/office/powerpoint/2010/main" val="33615501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AC0E7-5A3E-B9BF-78B7-2AF45FA4022D}"/>
              </a:ext>
            </a:extLst>
          </p:cNvPr>
          <p:cNvSpPr>
            <a:spLocks noGrp="1"/>
          </p:cNvSpPr>
          <p:nvPr>
            <p:ph type="title"/>
          </p:nvPr>
        </p:nvSpPr>
        <p:spPr>
          <a:xfrm>
            <a:off x="838200" y="0"/>
            <a:ext cx="10515600" cy="1189704"/>
          </a:xfrm>
        </p:spPr>
        <p:txBody>
          <a:bodyPr/>
          <a:lstStyle/>
          <a:p>
            <a:pPr algn="ctr"/>
            <a:r>
              <a:rPr lang="en-IN" b="1" dirty="0">
                <a:latin typeface="Times New Roman" panose="02020603050405020304" pitchFamily="18" charset="0"/>
                <a:cs typeface="Times New Roman" panose="02020603050405020304" pitchFamily="18" charset="0"/>
              </a:rPr>
              <a:t>DESIGN</a:t>
            </a:r>
          </a:p>
        </p:txBody>
      </p:sp>
      <p:sp>
        <p:nvSpPr>
          <p:cNvPr id="3" name="Content Placeholder 2">
            <a:extLst>
              <a:ext uri="{FF2B5EF4-FFF2-40B4-BE49-F238E27FC236}">
                <a16:creationId xmlns:a16="http://schemas.microsoft.com/office/drawing/2014/main" id="{525694C8-9767-7CD8-AD6A-5AA75F4FFD72}"/>
              </a:ext>
            </a:extLst>
          </p:cNvPr>
          <p:cNvSpPr>
            <a:spLocks noGrp="1"/>
          </p:cNvSpPr>
          <p:nvPr>
            <p:ph idx="1"/>
          </p:nvPr>
        </p:nvSpPr>
        <p:spPr>
          <a:xfrm>
            <a:off x="838200" y="1189704"/>
            <a:ext cx="10515600" cy="5174073"/>
          </a:xfrm>
        </p:spPr>
        <p:txBody>
          <a:bodyPr>
            <a:norm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design of the stock price prediction system is structured into four main components: data input, preprocessing, model training, and accuracy comparison. Historical stock data is collected and cleaned to remove missing values, normalize features, and prepare time-series inputs. This processed data is then given to multiple machine learning algorithms—LSTM, Random Forest, Linear Regression, and Prophet—each trained separately to learn patterns and trends. After training, each model predicts stock prices</a:t>
            </a:r>
            <a:r>
              <a:rPr lang="en-US" sz="2400" dirty="0"/>
              <a:t>.</a:t>
            </a:r>
            <a:endParaRPr lang="en-IN" sz="2400" dirty="0"/>
          </a:p>
        </p:txBody>
      </p:sp>
    </p:spTree>
    <p:extLst>
      <p:ext uri="{BB962C8B-B14F-4D97-AF65-F5344CB8AC3E}">
        <p14:creationId xmlns:p14="http://schemas.microsoft.com/office/powerpoint/2010/main" val="2194912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46776" y="217745"/>
            <a:ext cx="5144486" cy="1303641"/>
          </a:xfrm>
        </p:spPr>
        <p:txBody>
          <a:bodyPr>
            <a:normAutofit/>
          </a:bodyPr>
          <a:lstStyle/>
          <a:p>
            <a:pPr algn="ctr"/>
            <a:r>
              <a:rPr lang="en-IN" b="1" dirty="0">
                <a:latin typeface="Times New Roman" panose="02020603050405020304" pitchFamily="18" charset="0"/>
                <a:cs typeface="Times New Roman" panose="02020603050405020304" pitchFamily="18" charset="0"/>
              </a:rPr>
              <a:t>METHODOLOGY</a:t>
            </a:r>
          </a:p>
        </p:txBody>
      </p:sp>
      <p:graphicFrame>
        <p:nvGraphicFramePr>
          <p:cNvPr id="9" name="Diagram 8">
            <a:extLst>
              <a:ext uri="{FF2B5EF4-FFF2-40B4-BE49-F238E27FC236}">
                <a16:creationId xmlns:a16="http://schemas.microsoft.com/office/drawing/2014/main" id="{A976A1C9-C493-FC5F-1A06-B7E7490416DE}"/>
              </a:ext>
            </a:extLst>
          </p:cNvPr>
          <p:cNvGraphicFramePr/>
          <p:nvPr>
            <p:extLst>
              <p:ext uri="{D42A27DB-BD31-4B8C-83A1-F6EECF244321}">
                <p14:modId xmlns:p14="http://schemas.microsoft.com/office/powerpoint/2010/main" val="1780912089"/>
              </p:ext>
            </p:extLst>
          </p:nvPr>
        </p:nvGraphicFramePr>
        <p:xfrm>
          <a:off x="471948" y="1521386"/>
          <a:ext cx="10894142" cy="50008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1" name="Diagram 10">
            <a:extLst>
              <a:ext uri="{FF2B5EF4-FFF2-40B4-BE49-F238E27FC236}">
                <a16:creationId xmlns:a16="http://schemas.microsoft.com/office/drawing/2014/main" id="{A7821412-2C72-6605-495D-B63E3C8BA543}"/>
              </a:ext>
            </a:extLst>
          </p:cNvPr>
          <p:cNvGraphicFramePr/>
          <p:nvPr>
            <p:extLst>
              <p:ext uri="{D42A27DB-BD31-4B8C-83A1-F6EECF244321}">
                <p14:modId xmlns:p14="http://schemas.microsoft.com/office/powerpoint/2010/main" val="1373793202"/>
              </p:ext>
            </p:extLst>
          </p:nvPr>
        </p:nvGraphicFramePr>
        <p:xfrm>
          <a:off x="2032000" y="1769806"/>
          <a:ext cx="8128000" cy="436852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166847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9976" y="174094"/>
            <a:ext cx="6108277" cy="1062622"/>
          </a:xfrm>
        </p:spPr>
        <p:txBody>
          <a:bodyPr>
            <a:noAutofit/>
          </a:bodyPr>
          <a:lstStyle/>
          <a:p>
            <a:pPr algn="ctr"/>
            <a:r>
              <a:rPr lang="en-IN" b="1" dirty="0">
                <a:latin typeface="Times New Roman" panose="02020603050405020304" pitchFamily="18" charset="0"/>
                <a:cs typeface="Times New Roman" panose="02020603050405020304" pitchFamily="18" charset="0"/>
              </a:rPr>
              <a:t>Data Flow Diagram</a:t>
            </a:r>
          </a:p>
        </p:txBody>
      </p:sp>
      <p:pic>
        <p:nvPicPr>
          <p:cNvPr id="9" name="Picture 8">
            <a:extLst>
              <a:ext uri="{FF2B5EF4-FFF2-40B4-BE49-F238E27FC236}">
                <a16:creationId xmlns:a16="http://schemas.microsoft.com/office/drawing/2014/main" id="{EBF019E6-D809-40AC-3B76-05495875D0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200" y="1085850"/>
            <a:ext cx="9753600" cy="4686300"/>
          </a:xfrm>
          <a:prstGeom prst="rect">
            <a:avLst/>
          </a:prstGeom>
        </p:spPr>
      </p:pic>
    </p:spTree>
    <p:extLst>
      <p:ext uri="{BB962C8B-B14F-4D97-AF65-F5344CB8AC3E}">
        <p14:creationId xmlns:p14="http://schemas.microsoft.com/office/powerpoint/2010/main" val="23377985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5444" y="-766915"/>
            <a:ext cx="10515600" cy="2418734"/>
          </a:xfrm>
        </p:spPr>
        <p:txBody>
          <a:bodyPr/>
          <a:lstStyle/>
          <a:p>
            <a:pPr algn="ctr"/>
            <a:r>
              <a:rPr lang="en-IN" b="1" dirty="0"/>
              <a:t> Algorithms</a:t>
            </a:r>
          </a:p>
        </p:txBody>
      </p:sp>
      <p:sp>
        <p:nvSpPr>
          <p:cNvPr id="3" name="Content Placeholder 2"/>
          <p:cNvSpPr>
            <a:spLocks noGrp="1"/>
          </p:cNvSpPr>
          <p:nvPr>
            <p:ph idx="1"/>
          </p:nvPr>
        </p:nvSpPr>
        <p:spPr>
          <a:xfrm>
            <a:off x="838200" y="776748"/>
            <a:ext cx="10515600" cy="5400215"/>
          </a:xfrm>
        </p:spPr>
        <p:txBody>
          <a:bodyPr>
            <a:noAutofit/>
          </a:bodyPr>
          <a:lstStyle/>
          <a:p>
            <a:pPr marL="0" indent="0">
              <a:lnSpc>
                <a:spcPct val="150000"/>
              </a:lnSpc>
              <a:buNone/>
            </a:pPr>
            <a:r>
              <a:rPr lang="en-US" sz="2400" b="1" dirty="0">
                <a:latin typeface="Times New Roman" panose="02020603050405020304" pitchFamily="18" charset="0"/>
                <a:cs typeface="Times New Roman" panose="02020603050405020304" pitchFamily="18" charset="0"/>
              </a:rPr>
              <a:t>Linear Regression</a:t>
            </a:r>
          </a:p>
          <a:p>
            <a:pPr lvl="1">
              <a:lnSpc>
                <a:spcPct val="150000"/>
              </a:lnSpc>
            </a:pPr>
            <a:r>
              <a:rPr lang="en-US" dirty="0">
                <a:latin typeface="Times New Roman" panose="02020603050405020304" pitchFamily="18" charset="0"/>
                <a:cs typeface="Times New Roman" panose="02020603050405020304" pitchFamily="18" charset="0"/>
              </a:rPr>
              <a:t>Works well for simple linear trends.                    </a:t>
            </a:r>
          </a:p>
          <a:p>
            <a:pPr lvl="1">
              <a:lnSpc>
                <a:spcPct val="150000"/>
              </a:lnSpc>
            </a:pPr>
            <a:r>
              <a:rPr lang="en-US" dirty="0">
                <a:latin typeface="Times New Roman" panose="02020603050405020304" pitchFamily="18" charset="0"/>
                <a:cs typeface="Times New Roman" panose="02020603050405020304" pitchFamily="18" charset="0"/>
              </a:rPr>
              <a:t>Fast and easy to train.</a:t>
            </a:r>
          </a:p>
          <a:p>
            <a:pPr lvl="1">
              <a:lnSpc>
                <a:spcPct val="150000"/>
              </a:lnSpc>
            </a:pPr>
            <a:r>
              <a:rPr lang="en-US" dirty="0">
                <a:latin typeface="Times New Roman" panose="02020603050405020304" pitchFamily="18" charset="0"/>
                <a:cs typeface="Times New Roman" panose="02020603050405020304" pitchFamily="18" charset="0"/>
              </a:rPr>
              <a:t>Accuracy: Moderate.</a:t>
            </a:r>
          </a:p>
          <a:p>
            <a:pPr marL="0" indent="0">
              <a:lnSpc>
                <a:spcPct val="150000"/>
              </a:lnSpc>
              <a:buNone/>
            </a:pPr>
            <a:r>
              <a:rPr lang="en-US" sz="2400" b="1" dirty="0">
                <a:latin typeface="Times New Roman" panose="02020603050405020304" pitchFamily="18" charset="0"/>
                <a:cs typeface="Times New Roman" panose="02020603050405020304" pitchFamily="18" charset="0"/>
              </a:rPr>
              <a:t>Random Forest</a:t>
            </a:r>
          </a:p>
          <a:p>
            <a:pPr lvl="1">
              <a:lnSpc>
                <a:spcPct val="150000"/>
              </a:lnSpc>
            </a:pPr>
            <a:r>
              <a:rPr lang="en-US" dirty="0">
                <a:latin typeface="Times New Roman" panose="02020603050405020304" pitchFamily="18" charset="0"/>
                <a:cs typeface="Times New Roman" panose="02020603050405020304" pitchFamily="18" charset="0"/>
              </a:rPr>
              <a:t>Captures non-linear stock patterns.</a:t>
            </a:r>
          </a:p>
          <a:p>
            <a:pPr lvl="1">
              <a:lnSpc>
                <a:spcPct val="150000"/>
              </a:lnSpc>
            </a:pPr>
            <a:r>
              <a:rPr lang="en-US" dirty="0">
                <a:latin typeface="Times New Roman" panose="02020603050405020304" pitchFamily="18" charset="0"/>
                <a:cs typeface="Times New Roman" panose="02020603050405020304" pitchFamily="18" charset="0"/>
              </a:rPr>
              <a:t>Ensemble of many decision trees.</a:t>
            </a:r>
          </a:p>
          <a:p>
            <a:pPr lvl="1">
              <a:lnSpc>
                <a:spcPct val="150000"/>
              </a:lnSpc>
            </a:pPr>
            <a:r>
              <a:rPr lang="en-US" dirty="0">
                <a:latin typeface="Times New Roman" panose="02020603050405020304" pitchFamily="18" charset="0"/>
                <a:cs typeface="Times New Roman" panose="02020603050405020304" pitchFamily="18" charset="0"/>
              </a:rPr>
              <a:t>Accuracy: High.</a:t>
            </a:r>
          </a:p>
        </p:txBody>
      </p:sp>
    </p:spTree>
    <p:extLst>
      <p:ext uri="{BB962C8B-B14F-4D97-AF65-F5344CB8AC3E}">
        <p14:creationId xmlns:p14="http://schemas.microsoft.com/office/powerpoint/2010/main" val="21723736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9969" y="471948"/>
            <a:ext cx="10515600" cy="5692878"/>
          </a:xfrm>
        </p:spPr>
        <p:txBody>
          <a:bodyPr>
            <a:normAutofit fontScale="92500" lnSpcReduction="10000"/>
          </a:bodyPr>
          <a:lstStyle/>
          <a:p>
            <a:pPr marL="0" indent="0">
              <a:lnSpc>
                <a:spcPct val="170000"/>
              </a:lnSpc>
              <a:buNone/>
            </a:pPr>
            <a:r>
              <a:rPr lang="en-US" sz="2600" b="1" dirty="0">
                <a:latin typeface="Times New Roman" panose="02020603050405020304" pitchFamily="18" charset="0"/>
                <a:cs typeface="Times New Roman" panose="02020603050405020304" pitchFamily="18" charset="0"/>
              </a:rPr>
              <a:t>LSTM (Long Short-Term Memory)</a:t>
            </a:r>
          </a:p>
          <a:p>
            <a:pPr lvl="1">
              <a:lnSpc>
                <a:spcPct val="170000"/>
              </a:lnSpc>
            </a:pPr>
            <a:r>
              <a:rPr lang="en-US" sz="2600" dirty="0">
                <a:latin typeface="Times New Roman" panose="02020603050405020304" pitchFamily="18" charset="0"/>
                <a:cs typeface="Times New Roman" panose="02020603050405020304" pitchFamily="18" charset="0"/>
              </a:rPr>
              <a:t>Best for time-series forecasting.</a:t>
            </a:r>
          </a:p>
          <a:p>
            <a:pPr lvl="1">
              <a:lnSpc>
                <a:spcPct val="170000"/>
              </a:lnSpc>
            </a:pPr>
            <a:r>
              <a:rPr lang="en-US" sz="2600" dirty="0">
                <a:latin typeface="Times New Roman" panose="02020603050405020304" pitchFamily="18" charset="0"/>
                <a:cs typeface="Times New Roman" panose="02020603050405020304" pitchFamily="18" charset="0"/>
              </a:rPr>
              <a:t>Remembers long-term trends.</a:t>
            </a:r>
          </a:p>
          <a:p>
            <a:pPr lvl="1">
              <a:lnSpc>
                <a:spcPct val="170000"/>
              </a:lnSpc>
            </a:pPr>
            <a:r>
              <a:rPr lang="en-US" sz="2600" dirty="0">
                <a:latin typeface="Times New Roman" panose="02020603050405020304" pitchFamily="18" charset="0"/>
                <a:cs typeface="Times New Roman" panose="02020603050405020304" pitchFamily="18" charset="0"/>
              </a:rPr>
              <a:t>Accuracy: Very High.</a:t>
            </a:r>
          </a:p>
          <a:p>
            <a:pPr marL="0" indent="0">
              <a:lnSpc>
                <a:spcPct val="170000"/>
              </a:lnSpc>
              <a:buNone/>
            </a:pPr>
            <a:r>
              <a:rPr lang="en-US" sz="2600" b="1" dirty="0">
                <a:latin typeface="Times New Roman" panose="02020603050405020304" pitchFamily="18" charset="0"/>
                <a:cs typeface="Times New Roman" panose="02020603050405020304" pitchFamily="18" charset="0"/>
              </a:rPr>
              <a:t>Prophet</a:t>
            </a:r>
          </a:p>
          <a:p>
            <a:pPr lvl="1">
              <a:lnSpc>
                <a:spcPct val="170000"/>
              </a:lnSpc>
            </a:pPr>
            <a:r>
              <a:rPr lang="en-US" sz="2600" dirty="0">
                <a:latin typeface="Times New Roman" panose="02020603050405020304" pitchFamily="18" charset="0"/>
                <a:cs typeface="Times New Roman" panose="02020603050405020304" pitchFamily="18" charset="0"/>
              </a:rPr>
              <a:t>Handles seasonality and trend changes.</a:t>
            </a:r>
          </a:p>
          <a:p>
            <a:pPr lvl="1">
              <a:lnSpc>
                <a:spcPct val="170000"/>
              </a:lnSpc>
            </a:pPr>
            <a:r>
              <a:rPr lang="en-US" sz="2600" dirty="0">
                <a:latin typeface="Times New Roman" panose="02020603050405020304" pitchFamily="18" charset="0"/>
                <a:cs typeface="Times New Roman" panose="02020603050405020304" pitchFamily="18" charset="0"/>
              </a:rPr>
              <a:t>Simple to tune and fast.</a:t>
            </a:r>
          </a:p>
          <a:p>
            <a:pPr lvl="1">
              <a:lnSpc>
                <a:spcPct val="170000"/>
              </a:lnSpc>
            </a:pPr>
            <a:r>
              <a:rPr lang="en-US" sz="2600" dirty="0">
                <a:latin typeface="Times New Roman" panose="02020603050405020304" pitchFamily="18" charset="0"/>
                <a:cs typeface="Times New Roman" panose="02020603050405020304" pitchFamily="18" charset="0"/>
              </a:rPr>
              <a:t>Accuracy: Moderate to High</a:t>
            </a:r>
            <a:r>
              <a:rPr lang="en-US" sz="3100" dirty="0">
                <a:latin typeface="Times New Roman" panose="02020603050405020304" pitchFamily="18" charset="0"/>
                <a:cs typeface="Times New Roman" panose="02020603050405020304" pitchFamily="18" charset="0"/>
              </a:rPr>
              <a:t>.</a:t>
            </a:r>
          </a:p>
          <a:p>
            <a:endParaRPr lang="en-IN" sz="3100" dirty="0"/>
          </a:p>
          <a:p>
            <a:endParaRPr lang="en-IN" dirty="0"/>
          </a:p>
        </p:txBody>
      </p:sp>
    </p:spTree>
    <p:extLst>
      <p:ext uri="{BB962C8B-B14F-4D97-AF65-F5344CB8AC3E}">
        <p14:creationId xmlns:p14="http://schemas.microsoft.com/office/powerpoint/2010/main" val="3980795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7069" y="298579"/>
            <a:ext cx="7305189" cy="1480393"/>
          </a:xfrm>
        </p:spPr>
        <p:txBody>
          <a:bodyPr/>
          <a:lstStyle/>
          <a:p>
            <a:pPr algn="ctr"/>
            <a:r>
              <a:rPr lang="en-IN" b="1" dirty="0">
                <a:latin typeface="Times New Roman" panose="02020603050405020304" pitchFamily="18" charset="0"/>
                <a:cs typeface="Times New Roman" panose="02020603050405020304" pitchFamily="18" charset="0"/>
              </a:rPr>
              <a:t>IMPLEMENTATION</a:t>
            </a:r>
          </a:p>
        </p:txBody>
      </p:sp>
      <p:sp>
        <p:nvSpPr>
          <p:cNvPr id="3" name="Content Placeholder 2"/>
          <p:cNvSpPr>
            <a:spLocks noGrp="1"/>
          </p:cNvSpPr>
          <p:nvPr>
            <p:ph idx="1"/>
          </p:nvPr>
        </p:nvSpPr>
        <p:spPr>
          <a:xfrm>
            <a:off x="838200" y="1825624"/>
            <a:ext cx="10515600" cy="4145967"/>
          </a:xfrm>
        </p:spPr>
        <p:txBody>
          <a:bodyPr>
            <a:noAutofit/>
          </a:bodyPr>
          <a:lstStyle/>
          <a:p>
            <a:pPr algn="just">
              <a:lnSpc>
                <a:spcPct val="150000"/>
              </a:lnSpc>
            </a:pPr>
            <a:r>
              <a:rPr lang="en-US" sz="2400" dirty="0">
                <a:latin typeface="Times New Roman" panose="02020603050405020304" pitchFamily="18" charset="0"/>
                <a:cs typeface="Times New Roman" panose="02020603050405020304" pitchFamily="18" charset="0"/>
              </a:rPr>
              <a:t>Import data from historical stock data.</a:t>
            </a:r>
          </a:p>
          <a:p>
            <a:pPr algn="just">
              <a:lnSpc>
                <a:spcPct val="150000"/>
              </a:lnSpc>
            </a:pPr>
            <a:r>
              <a:rPr lang="en-US" sz="2400" dirty="0">
                <a:latin typeface="Times New Roman" panose="02020603050405020304" pitchFamily="18" charset="0"/>
                <a:cs typeface="Times New Roman" panose="02020603050405020304" pitchFamily="18" charset="0"/>
              </a:rPr>
              <a:t>Selecting algorithms.</a:t>
            </a:r>
          </a:p>
          <a:p>
            <a:pPr algn="just">
              <a:lnSpc>
                <a:spcPct val="150000"/>
              </a:lnSpc>
            </a:pPr>
            <a:r>
              <a:rPr lang="en-US" sz="2400" dirty="0">
                <a:latin typeface="Times New Roman" panose="02020603050405020304" pitchFamily="18" charset="0"/>
                <a:cs typeface="Times New Roman" panose="02020603050405020304" pitchFamily="18" charset="0"/>
              </a:rPr>
              <a:t>Train the model for given stock.</a:t>
            </a:r>
          </a:p>
          <a:p>
            <a:pPr algn="just">
              <a:lnSpc>
                <a:spcPct val="150000"/>
              </a:lnSpc>
            </a:pPr>
            <a:r>
              <a:rPr lang="en-US" sz="2400" dirty="0">
                <a:latin typeface="Times New Roman" panose="02020603050405020304" pitchFamily="18" charset="0"/>
                <a:cs typeface="Times New Roman" panose="02020603050405020304" pitchFamily="18" charset="0"/>
              </a:rPr>
              <a:t>Gives predicted and historical graph.</a:t>
            </a:r>
          </a:p>
          <a:p>
            <a:pPr algn="just">
              <a:lnSpc>
                <a:spcPct val="150000"/>
              </a:lnSpc>
            </a:pPr>
            <a:r>
              <a:rPr lang="en-US" sz="2400" dirty="0">
                <a:latin typeface="Times New Roman" panose="02020603050405020304" pitchFamily="18" charset="0"/>
                <a:cs typeface="Times New Roman" panose="02020603050405020304" pitchFamily="18" charset="0"/>
              </a:rPr>
              <a:t>Comparison of algorithms.</a:t>
            </a:r>
          </a:p>
          <a:p>
            <a:pPr algn="just">
              <a:lnSpc>
                <a:spcPct val="150000"/>
              </a:lnSpc>
            </a:pPr>
            <a:r>
              <a:rPr lang="en-US" sz="2400" dirty="0">
                <a:latin typeface="Times New Roman" panose="02020603050405020304" pitchFamily="18" charset="0"/>
                <a:cs typeface="Times New Roman" panose="02020603050405020304" pitchFamily="18" charset="0"/>
              </a:rPr>
              <a:t>Predicts the best algorithm.</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7280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90474" y="276894"/>
            <a:ext cx="3124200" cy="1325563"/>
          </a:xfrm>
        </p:spPr>
        <p:txBody>
          <a:bodyPr/>
          <a:lstStyle/>
          <a:p>
            <a:pPr algn="ctr"/>
            <a:r>
              <a:rPr lang="en-IN" b="1" dirty="0">
                <a:latin typeface="Times New Roman" panose="02020603050405020304" pitchFamily="18" charset="0"/>
                <a:cs typeface="Times New Roman" panose="02020603050405020304" pitchFamily="18" charset="0"/>
              </a:rPr>
              <a:t>TESTING</a:t>
            </a:r>
          </a:p>
        </p:txBody>
      </p:sp>
      <p:graphicFrame>
        <p:nvGraphicFramePr>
          <p:cNvPr id="7" name="Content Placeholder 6">
            <a:extLst>
              <a:ext uri="{FF2B5EF4-FFF2-40B4-BE49-F238E27FC236}">
                <a16:creationId xmlns:a16="http://schemas.microsoft.com/office/drawing/2014/main" id="{75982C8E-4EF5-052D-E87E-8D8607340E38}"/>
              </a:ext>
            </a:extLst>
          </p:cNvPr>
          <p:cNvGraphicFramePr>
            <a:graphicFrameLocks noGrp="1"/>
          </p:cNvGraphicFramePr>
          <p:nvPr>
            <p:ph idx="1"/>
            <p:extLst>
              <p:ext uri="{D42A27DB-BD31-4B8C-83A1-F6EECF244321}">
                <p14:modId xmlns:p14="http://schemas.microsoft.com/office/powerpoint/2010/main" val="410589774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Diagram 7">
            <a:extLst>
              <a:ext uri="{FF2B5EF4-FFF2-40B4-BE49-F238E27FC236}">
                <a16:creationId xmlns:a16="http://schemas.microsoft.com/office/drawing/2014/main" id="{85EA61F3-3885-C556-0F65-EADA4EEC70DC}"/>
              </a:ext>
            </a:extLst>
          </p:cNvPr>
          <p:cNvGraphicFramePr/>
          <p:nvPr>
            <p:extLst>
              <p:ext uri="{D42A27DB-BD31-4B8C-83A1-F6EECF244321}">
                <p14:modId xmlns:p14="http://schemas.microsoft.com/office/powerpoint/2010/main" val="1937210298"/>
              </p:ext>
            </p:extLst>
          </p:nvPr>
        </p:nvGraphicFramePr>
        <p:xfrm>
          <a:off x="2032000" y="1602457"/>
          <a:ext cx="8128000" cy="453587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9" name="Diagram 8">
            <a:extLst>
              <a:ext uri="{FF2B5EF4-FFF2-40B4-BE49-F238E27FC236}">
                <a16:creationId xmlns:a16="http://schemas.microsoft.com/office/drawing/2014/main" id="{E6DCD7B1-3736-40A6-087B-E4DBA20E5109}"/>
              </a:ext>
            </a:extLst>
          </p:cNvPr>
          <p:cNvGraphicFramePr/>
          <p:nvPr>
            <p:extLst>
              <p:ext uri="{D42A27DB-BD31-4B8C-83A1-F6EECF244321}">
                <p14:modId xmlns:p14="http://schemas.microsoft.com/office/powerpoint/2010/main" val="987829448"/>
              </p:ext>
            </p:extLst>
          </p:nvPr>
        </p:nvGraphicFramePr>
        <p:xfrm>
          <a:off x="2032000" y="2123768"/>
          <a:ext cx="8128000" cy="4014565"/>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3820434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52244" y="415637"/>
            <a:ext cx="4692221" cy="1339804"/>
          </a:xfrm>
        </p:spPr>
        <p:txBody>
          <a:bodyPr/>
          <a:lstStyle/>
          <a:p>
            <a:pPr algn="ctr"/>
            <a:r>
              <a:rPr lang="en-IN" b="1" dirty="0">
                <a:latin typeface="Times New Roman" panose="02020603050405020304" pitchFamily="18" charset="0"/>
                <a:cs typeface="Times New Roman" panose="02020603050405020304" pitchFamily="18" charset="0"/>
              </a:rPr>
              <a:t>CONCLUSION</a:t>
            </a:r>
          </a:p>
        </p:txBody>
      </p:sp>
      <p:sp>
        <p:nvSpPr>
          <p:cNvPr id="5" name="Content Placeholder 4">
            <a:extLst>
              <a:ext uri="{FF2B5EF4-FFF2-40B4-BE49-F238E27FC236}">
                <a16:creationId xmlns:a16="http://schemas.microsoft.com/office/drawing/2014/main" id="{4CCCEDAA-4EDB-83DD-DD53-E655D8371417}"/>
              </a:ext>
            </a:extLst>
          </p:cNvPr>
          <p:cNvSpPr>
            <a:spLocks noGrp="1"/>
          </p:cNvSpPr>
          <p:nvPr>
            <p:ph idx="1"/>
          </p:nvPr>
        </p:nvSpPr>
        <p:spPr/>
        <p:txBody>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In this project, we developed a stock price prediction system using four different machine learning algorithms—LSTM, Random Forest, Linear Regression, and Prophet—and compared their performance based on accuracy. Each model analyzed historical stock data to identify patterns and predict future price trends.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33811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761E4-37E5-E001-A3C3-9DA52F51B147}"/>
              </a:ext>
            </a:extLst>
          </p:cNvPr>
          <p:cNvSpPr>
            <a:spLocks noGrp="1"/>
          </p:cNvSpPr>
          <p:nvPr>
            <p:ph type="ctrTitle"/>
          </p:nvPr>
        </p:nvSpPr>
        <p:spPr>
          <a:xfrm>
            <a:off x="1524000" y="177283"/>
            <a:ext cx="9144000" cy="951722"/>
          </a:xfrm>
        </p:spPr>
        <p:txBody>
          <a:bodyPr>
            <a:normAutofit/>
          </a:bodyPr>
          <a:lstStyle/>
          <a:p>
            <a:r>
              <a:rPr lang="en-IN" sz="4400" b="1" dirty="0">
                <a:latin typeface="Times New Roman" panose="02020603050405020304" pitchFamily="18" charset="0"/>
                <a:cs typeface="Times New Roman" panose="02020603050405020304" pitchFamily="18" charset="0"/>
              </a:rPr>
              <a:t>FUTURE ENHANCEMENT</a:t>
            </a:r>
          </a:p>
        </p:txBody>
      </p:sp>
      <p:sp>
        <p:nvSpPr>
          <p:cNvPr id="3" name="Subtitle 2">
            <a:extLst>
              <a:ext uri="{FF2B5EF4-FFF2-40B4-BE49-F238E27FC236}">
                <a16:creationId xmlns:a16="http://schemas.microsoft.com/office/drawing/2014/main" id="{9EBD4351-7A4F-F94A-CC4D-35333C1E344E}"/>
              </a:ext>
            </a:extLst>
          </p:cNvPr>
          <p:cNvSpPr>
            <a:spLocks noGrp="1"/>
          </p:cNvSpPr>
          <p:nvPr>
            <p:ph type="subTitle" idx="1"/>
          </p:nvPr>
        </p:nvSpPr>
        <p:spPr>
          <a:xfrm>
            <a:off x="685800" y="1340573"/>
            <a:ext cx="10704443" cy="4176853"/>
          </a:xfrm>
        </p:spPr>
        <p:txBody>
          <a:bodyPr>
            <a:noAutofit/>
          </a:bodyPr>
          <a:lstStyle/>
          <a:p>
            <a:pPr marL="342900" indent="-3429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the future, the model can be improved by adding real-time data and news analysis to make predictions more accurate.</a:t>
            </a:r>
          </a:p>
          <a:p>
            <a:pPr marL="342900" indent="-3429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More advanced algorithms like Transformers or hybrid models can be used to improve prediction accuracy.</a:t>
            </a:r>
          </a:p>
          <a:p>
            <a:pPr marL="342900" indent="-3429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project can be enhanced by including social media and sentiment data to better understand market behavior.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96818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1356" y="-324464"/>
            <a:ext cx="6701718" cy="1563329"/>
          </a:xfrm>
        </p:spPr>
        <p:txBody>
          <a:bodyPr/>
          <a:lstStyle/>
          <a:p>
            <a:pPr algn="ctr"/>
            <a:r>
              <a:rPr lang="en-IN" b="1" dirty="0">
                <a:latin typeface="Times New Roman" panose="02020603050405020304" pitchFamily="18" charset="0"/>
                <a:cs typeface="Times New Roman" panose="02020603050405020304" pitchFamily="18" charset="0"/>
              </a:rPr>
              <a:t>REFERENCES</a:t>
            </a:r>
          </a:p>
        </p:txBody>
      </p:sp>
      <p:sp>
        <p:nvSpPr>
          <p:cNvPr id="5" name="Content Placeholder 4">
            <a:extLst>
              <a:ext uri="{FF2B5EF4-FFF2-40B4-BE49-F238E27FC236}">
                <a16:creationId xmlns:a16="http://schemas.microsoft.com/office/drawing/2014/main" id="{4AE87988-0001-98C0-CF9D-21A454965C94}"/>
              </a:ext>
            </a:extLst>
          </p:cNvPr>
          <p:cNvSpPr>
            <a:spLocks noGrp="1"/>
          </p:cNvSpPr>
          <p:nvPr>
            <p:ph idx="1"/>
          </p:nvPr>
        </p:nvSpPr>
        <p:spPr>
          <a:xfrm>
            <a:off x="838200" y="776748"/>
            <a:ext cx="10515600" cy="5968181"/>
          </a:xfrm>
        </p:spPr>
        <p:txBody>
          <a:bodyPr>
            <a:noAutofit/>
          </a:bodyPr>
          <a:lstStyle/>
          <a:p>
            <a:pPr algn="just">
              <a:lnSpc>
                <a:spcPct val="150000"/>
              </a:lnSpc>
            </a:pPr>
            <a:r>
              <a:rPr lang="en-IN" sz="2400" dirty="0">
                <a:latin typeface="Times New Roman" panose="02020603050405020304" pitchFamily="18" charset="0"/>
                <a:cs typeface="Times New Roman" panose="02020603050405020304" pitchFamily="18" charset="0"/>
              </a:rPr>
              <a:t>[1] Ernest Kwame </a:t>
            </a:r>
            <a:r>
              <a:rPr lang="en-IN" sz="2400" dirty="0" err="1">
                <a:latin typeface="Times New Roman" panose="02020603050405020304" pitchFamily="18" charset="0"/>
                <a:cs typeface="Times New Roman" panose="02020603050405020304" pitchFamily="18" charset="0"/>
              </a:rPr>
              <a:t>Ampomah</a:t>
            </a:r>
            <a:r>
              <a:rPr lang="en-IN" sz="2400" dirty="0">
                <a:latin typeface="Times New Roman" panose="02020603050405020304" pitchFamily="18" charset="0"/>
                <a:cs typeface="Times New Roman" panose="02020603050405020304" pitchFamily="18" charset="0"/>
              </a:rPr>
              <a:t>, Gabriel Nyame, </a:t>
            </a:r>
            <a:r>
              <a:rPr lang="en-IN" sz="2400" dirty="0" err="1">
                <a:latin typeface="Times New Roman" panose="02020603050405020304" pitchFamily="18" charset="0"/>
                <a:cs typeface="Times New Roman" panose="02020603050405020304" pitchFamily="18" charset="0"/>
              </a:rPr>
              <a:t>Zhiguang</a:t>
            </a:r>
            <a:r>
              <a:rPr lang="en-IN" sz="2400" dirty="0">
                <a:latin typeface="Times New Roman" panose="02020603050405020304" pitchFamily="18" charset="0"/>
                <a:cs typeface="Times New Roman" panose="02020603050405020304" pitchFamily="18" charset="0"/>
              </a:rPr>
              <a:t> Qin, Prince </a:t>
            </a:r>
          </a:p>
          <a:p>
            <a:pPr marL="0" indent="0" algn="just">
              <a:lnSpc>
                <a:spcPct val="150000"/>
              </a:lnSpc>
              <a:buNone/>
            </a:pPr>
            <a:r>
              <a:rPr lang="en-IN" sz="2400" dirty="0">
                <a:latin typeface="Times New Roman" panose="02020603050405020304" pitchFamily="18" charset="0"/>
                <a:cs typeface="Times New Roman" panose="02020603050405020304" pitchFamily="18" charset="0"/>
              </a:rPr>
              <a:t>   Clement Addo, Enoch </a:t>
            </a:r>
            <a:r>
              <a:rPr lang="en-IN" sz="2400" dirty="0" err="1">
                <a:latin typeface="Times New Roman" panose="02020603050405020304" pitchFamily="18" charset="0"/>
                <a:cs typeface="Times New Roman" panose="02020603050405020304" pitchFamily="18" charset="0"/>
              </a:rPr>
              <a:t>Opanin</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Gyamfi</a:t>
            </a:r>
            <a:r>
              <a:rPr lang="en-IN" sz="2400" dirty="0">
                <a:latin typeface="Times New Roman" panose="02020603050405020304" pitchFamily="18" charset="0"/>
                <a:cs typeface="Times New Roman" panose="02020603050405020304" pitchFamily="18" charset="0"/>
              </a:rPr>
              <a:t> and Michael Gyan, “Stock Market </a:t>
            </a:r>
          </a:p>
          <a:p>
            <a:pPr marL="0" indent="0" algn="just">
              <a:lnSpc>
                <a:spcPct val="150000"/>
              </a:lnSpc>
              <a:buNone/>
            </a:pPr>
            <a:r>
              <a:rPr lang="en-IN" sz="2400" dirty="0">
                <a:latin typeface="Times New Roman" panose="02020603050405020304" pitchFamily="18" charset="0"/>
                <a:cs typeface="Times New Roman" panose="02020603050405020304" pitchFamily="18" charset="0"/>
              </a:rPr>
              <a:t>   Prediction with Gaussian Naïve Bayes Machine Learning Algorithm”, </a:t>
            </a:r>
          </a:p>
          <a:p>
            <a:pPr marL="0" indent="0" algn="just">
              <a:lnSpc>
                <a:spcPct val="150000"/>
              </a:lnSpc>
              <a:buNone/>
            </a:pPr>
            <a:r>
              <a:rPr lang="en-IN" sz="2400" dirty="0">
                <a:latin typeface="Times New Roman" panose="02020603050405020304" pitchFamily="18" charset="0"/>
                <a:cs typeface="Times New Roman" panose="02020603050405020304" pitchFamily="18" charset="0"/>
              </a:rPr>
              <a:t>   2020. </a:t>
            </a:r>
          </a:p>
          <a:p>
            <a:pPr algn="just">
              <a:lnSpc>
                <a:spcPct val="150000"/>
              </a:lnSpc>
            </a:pPr>
            <a:r>
              <a:rPr lang="en-IN" sz="2400" dirty="0">
                <a:latin typeface="Times New Roman" panose="02020603050405020304" pitchFamily="18" charset="0"/>
                <a:cs typeface="Times New Roman" panose="02020603050405020304" pitchFamily="18" charset="0"/>
              </a:rPr>
              <a:t>[2] Omar D. </a:t>
            </a:r>
            <a:r>
              <a:rPr lang="en-IN" sz="2400" dirty="0" err="1">
                <a:latin typeface="Times New Roman" panose="02020603050405020304" pitchFamily="18" charset="0"/>
                <a:cs typeface="Times New Roman" panose="02020603050405020304" pitchFamily="18" charset="0"/>
              </a:rPr>
              <a:t>Madeeh</a:t>
            </a:r>
            <a:r>
              <a:rPr lang="en-IN" sz="2400" dirty="0">
                <a:latin typeface="Times New Roman" panose="02020603050405020304" pitchFamily="18" charset="0"/>
                <a:cs typeface="Times New Roman" panose="02020603050405020304" pitchFamily="18" charset="0"/>
              </a:rPr>
              <a:t> and </a:t>
            </a:r>
            <a:r>
              <a:rPr lang="en-IN" sz="2400" dirty="0" err="1">
                <a:latin typeface="Times New Roman" panose="02020603050405020304" pitchFamily="18" charset="0"/>
                <a:cs typeface="Times New Roman" panose="02020603050405020304" pitchFamily="18" charset="0"/>
              </a:rPr>
              <a:t>Hasanen</a:t>
            </a:r>
            <a:r>
              <a:rPr lang="en-IN" sz="2400" dirty="0">
                <a:latin typeface="Times New Roman" panose="02020603050405020304" pitchFamily="18" charset="0"/>
                <a:cs typeface="Times New Roman" panose="02020603050405020304" pitchFamily="18" charset="0"/>
              </a:rPr>
              <a:t> S. Abdullah, “An Efficient Prediction </a:t>
            </a:r>
          </a:p>
          <a:p>
            <a:pPr marL="0" indent="0" algn="just">
              <a:lnSpc>
                <a:spcPct val="150000"/>
              </a:lnSpc>
              <a:buNone/>
            </a:pPr>
            <a:r>
              <a:rPr lang="en-IN" sz="2400" dirty="0">
                <a:latin typeface="Times New Roman" panose="02020603050405020304" pitchFamily="18" charset="0"/>
                <a:cs typeface="Times New Roman" panose="02020603050405020304" pitchFamily="18" charset="0"/>
              </a:rPr>
              <a:t>   Model based on Machine Learning Techniques for Prediction of the Stock </a:t>
            </a:r>
          </a:p>
          <a:p>
            <a:pPr marL="0" indent="0" algn="just">
              <a:lnSpc>
                <a:spcPct val="150000"/>
              </a:lnSpc>
              <a:buNone/>
            </a:pPr>
            <a:r>
              <a:rPr lang="en-IN" sz="2400" dirty="0">
                <a:latin typeface="Times New Roman" panose="02020603050405020304" pitchFamily="18" charset="0"/>
                <a:cs typeface="Times New Roman" panose="02020603050405020304" pitchFamily="18" charset="0"/>
              </a:rPr>
              <a:t>   Market”, 2020. </a:t>
            </a:r>
          </a:p>
          <a:p>
            <a:pPr algn="just">
              <a:lnSpc>
                <a:spcPct val="150000"/>
              </a:lnSpc>
            </a:pPr>
            <a:r>
              <a:rPr lang="en-IN" sz="2400" dirty="0">
                <a:latin typeface="Times New Roman" panose="02020603050405020304" pitchFamily="18" charset="0"/>
                <a:cs typeface="Times New Roman" panose="02020603050405020304" pitchFamily="18" charset="0"/>
              </a:rPr>
              <a:t>[3] M. J. Awan, M. </a:t>
            </a:r>
            <a:r>
              <a:rPr lang="en-IN" sz="2400" dirty="0" err="1">
                <a:latin typeface="Times New Roman" panose="02020603050405020304" pitchFamily="18" charset="0"/>
                <a:cs typeface="Times New Roman" panose="02020603050405020304" pitchFamily="18" charset="0"/>
              </a:rPr>
              <a:t>Shafry</a:t>
            </a:r>
            <a:r>
              <a:rPr lang="en-IN" sz="2400" dirty="0">
                <a:latin typeface="Times New Roman" panose="02020603050405020304" pitchFamily="18" charset="0"/>
                <a:cs typeface="Times New Roman" panose="02020603050405020304" pitchFamily="18" charset="0"/>
              </a:rPr>
              <a:t>, H. </a:t>
            </a:r>
            <a:r>
              <a:rPr lang="en-IN" sz="2400" dirty="0" err="1">
                <a:latin typeface="Times New Roman" panose="02020603050405020304" pitchFamily="18" charset="0"/>
                <a:cs typeface="Times New Roman" panose="02020603050405020304" pitchFamily="18" charset="0"/>
              </a:rPr>
              <a:t>Nobanee</a:t>
            </a:r>
            <a:r>
              <a:rPr lang="en-IN" sz="2400" dirty="0">
                <a:latin typeface="Times New Roman" panose="02020603050405020304" pitchFamily="18" charset="0"/>
                <a:cs typeface="Times New Roman" panose="02020603050405020304" pitchFamily="18" charset="0"/>
              </a:rPr>
              <a:t>, A. Munawar and A. Yasin, “Social </a:t>
            </a:r>
          </a:p>
          <a:p>
            <a:pPr marL="0" indent="0" algn="just">
              <a:lnSpc>
                <a:spcPct val="150000"/>
              </a:lnSpc>
              <a:buNone/>
            </a:pPr>
            <a:r>
              <a:rPr lang="en-IN" sz="2400" dirty="0">
                <a:latin typeface="Times New Roman" panose="02020603050405020304" pitchFamily="18" charset="0"/>
                <a:cs typeface="Times New Roman" panose="02020603050405020304" pitchFamily="18" charset="0"/>
              </a:rPr>
              <a:t>   Media and Stock Market Prediction: A Big Data Approach”, 2020</a:t>
            </a:r>
          </a:p>
        </p:txBody>
      </p:sp>
    </p:spTree>
    <p:extLst>
      <p:ext uri="{BB962C8B-B14F-4D97-AF65-F5344CB8AC3E}">
        <p14:creationId xmlns:p14="http://schemas.microsoft.com/office/powerpoint/2010/main" val="13295070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C1CFF-7285-021B-2A33-B385D3A515D0}"/>
              </a:ext>
            </a:extLst>
          </p:cNvPr>
          <p:cNvSpPr>
            <a:spLocks noGrp="1"/>
          </p:cNvSpPr>
          <p:nvPr>
            <p:ph type="title"/>
          </p:nvPr>
        </p:nvSpPr>
        <p:spPr>
          <a:xfrm>
            <a:off x="838200" y="-74645"/>
            <a:ext cx="10515600" cy="1110343"/>
          </a:xfrm>
        </p:spPr>
        <p:txBody>
          <a:bodyPr>
            <a:normAutofit/>
          </a:bodyPr>
          <a:lstStyle/>
          <a:p>
            <a:pPr algn="ctr"/>
            <a:r>
              <a:rPr lang="en-IN" b="1" dirty="0"/>
              <a:t>0UTPUTS</a:t>
            </a:r>
          </a:p>
        </p:txBody>
      </p:sp>
      <p:pic>
        <p:nvPicPr>
          <p:cNvPr id="5" name="Picture 4">
            <a:extLst>
              <a:ext uri="{FF2B5EF4-FFF2-40B4-BE49-F238E27FC236}">
                <a16:creationId xmlns:a16="http://schemas.microsoft.com/office/drawing/2014/main" id="{7309155D-5D14-1FF6-917B-B59F2EC557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624" y="953730"/>
            <a:ext cx="3153746" cy="5214930"/>
          </a:xfrm>
          <a:prstGeom prst="rect">
            <a:avLst/>
          </a:prstGeom>
        </p:spPr>
      </p:pic>
      <p:pic>
        <p:nvPicPr>
          <p:cNvPr id="7" name="Picture 6">
            <a:extLst>
              <a:ext uri="{FF2B5EF4-FFF2-40B4-BE49-F238E27FC236}">
                <a16:creationId xmlns:a16="http://schemas.microsoft.com/office/drawing/2014/main" id="{17992B88-EA5C-40BC-909B-B2657A9698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53664" y="697912"/>
            <a:ext cx="8033657" cy="2731088"/>
          </a:xfrm>
          <a:prstGeom prst="rect">
            <a:avLst/>
          </a:prstGeom>
        </p:spPr>
      </p:pic>
      <p:pic>
        <p:nvPicPr>
          <p:cNvPr id="9" name="Picture 8">
            <a:extLst>
              <a:ext uri="{FF2B5EF4-FFF2-40B4-BE49-F238E27FC236}">
                <a16:creationId xmlns:a16="http://schemas.microsoft.com/office/drawing/2014/main" id="{18FC5A57-B2A9-DEAE-76A9-4B9A53AEC9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57147" y="3965075"/>
            <a:ext cx="7847045" cy="2195013"/>
          </a:xfrm>
          <a:prstGeom prst="rect">
            <a:avLst/>
          </a:prstGeom>
        </p:spPr>
      </p:pic>
      <p:sp>
        <p:nvSpPr>
          <p:cNvPr id="4" name="TextBox 3">
            <a:extLst>
              <a:ext uri="{FF2B5EF4-FFF2-40B4-BE49-F238E27FC236}">
                <a16:creationId xmlns:a16="http://schemas.microsoft.com/office/drawing/2014/main" id="{F85DB9EC-BC7A-AF66-BF7F-4A21256F1DAD}"/>
              </a:ext>
            </a:extLst>
          </p:cNvPr>
          <p:cNvSpPr txBox="1"/>
          <p:nvPr/>
        </p:nvSpPr>
        <p:spPr>
          <a:xfrm>
            <a:off x="74645" y="275303"/>
            <a:ext cx="3956581" cy="369332"/>
          </a:xfrm>
          <a:prstGeom prst="rect">
            <a:avLst/>
          </a:prstGeom>
          <a:noFill/>
        </p:spPr>
        <p:txBody>
          <a:bodyPr wrap="square">
            <a:spAutoFit/>
          </a:bodyPr>
          <a:lstStyle/>
          <a:p>
            <a:r>
              <a:rPr lang="en-IN" dirty="0"/>
              <a:t> http://127.0.0.1:5000</a:t>
            </a:r>
          </a:p>
        </p:txBody>
      </p:sp>
      <p:sp>
        <p:nvSpPr>
          <p:cNvPr id="11" name="TextBox 10">
            <a:extLst>
              <a:ext uri="{FF2B5EF4-FFF2-40B4-BE49-F238E27FC236}">
                <a16:creationId xmlns:a16="http://schemas.microsoft.com/office/drawing/2014/main" id="{8DB6CB3D-2DBA-FD45-BA47-A879883F01CC}"/>
              </a:ext>
            </a:extLst>
          </p:cNvPr>
          <p:cNvSpPr txBox="1"/>
          <p:nvPr/>
        </p:nvSpPr>
        <p:spPr>
          <a:xfrm>
            <a:off x="5712541" y="3318743"/>
            <a:ext cx="1868129" cy="646331"/>
          </a:xfrm>
          <a:prstGeom prst="rect">
            <a:avLst/>
          </a:prstGeom>
          <a:noFill/>
        </p:spPr>
        <p:txBody>
          <a:bodyPr wrap="square" rtlCol="0">
            <a:spAutoFit/>
          </a:bodyPr>
          <a:lstStyle/>
          <a:p>
            <a:endParaRPr lang="en-IN" dirty="0"/>
          </a:p>
          <a:p>
            <a:r>
              <a:rPr lang="en-IN" dirty="0"/>
              <a:t>Fig:2 Dashboards</a:t>
            </a:r>
          </a:p>
        </p:txBody>
      </p:sp>
      <p:sp>
        <p:nvSpPr>
          <p:cNvPr id="12" name="TextBox 11">
            <a:extLst>
              <a:ext uri="{FF2B5EF4-FFF2-40B4-BE49-F238E27FC236}">
                <a16:creationId xmlns:a16="http://schemas.microsoft.com/office/drawing/2014/main" id="{6E442268-A0BE-856D-6A2E-88BAAE63A7C3}"/>
              </a:ext>
            </a:extLst>
          </p:cNvPr>
          <p:cNvSpPr txBox="1"/>
          <p:nvPr/>
        </p:nvSpPr>
        <p:spPr>
          <a:xfrm>
            <a:off x="5712542" y="6208666"/>
            <a:ext cx="2644878" cy="369332"/>
          </a:xfrm>
          <a:prstGeom prst="rect">
            <a:avLst/>
          </a:prstGeom>
          <a:noFill/>
        </p:spPr>
        <p:txBody>
          <a:bodyPr wrap="square" rtlCol="0">
            <a:spAutoFit/>
          </a:bodyPr>
          <a:lstStyle/>
          <a:p>
            <a:r>
              <a:rPr lang="en-IN" dirty="0"/>
              <a:t>Fig3:Indian stocks</a:t>
            </a:r>
          </a:p>
        </p:txBody>
      </p:sp>
      <p:sp>
        <p:nvSpPr>
          <p:cNvPr id="13" name="TextBox 12">
            <a:extLst>
              <a:ext uri="{FF2B5EF4-FFF2-40B4-BE49-F238E27FC236}">
                <a16:creationId xmlns:a16="http://schemas.microsoft.com/office/drawing/2014/main" id="{D3AF640B-E15C-4E71-A366-B3748096A750}"/>
              </a:ext>
            </a:extLst>
          </p:cNvPr>
          <p:cNvSpPr txBox="1"/>
          <p:nvPr/>
        </p:nvSpPr>
        <p:spPr>
          <a:xfrm>
            <a:off x="324464" y="6207989"/>
            <a:ext cx="1966451" cy="369332"/>
          </a:xfrm>
          <a:prstGeom prst="rect">
            <a:avLst/>
          </a:prstGeom>
          <a:noFill/>
        </p:spPr>
        <p:txBody>
          <a:bodyPr wrap="square" rtlCol="0">
            <a:spAutoFit/>
          </a:bodyPr>
          <a:lstStyle/>
          <a:p>
            <a:r>
              <a:rPr lang="en-IN" dirty="0"/>
              <a:t>Fig1:Login page</a:t>
            </a:r>
          </a:p>
        </p:txBody>
      </p:sp>
    </p:spTree>
    <p:extLst>
      <p:ext uri="{BB962C8B-B14F-4D97-AF65-F5344CB8AC3E}">
        <p14:creationId xmlns:p14="http://schemas.microsoft.com/office/powerpoint/2010/main" val="9174074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7AEE930-324F-27A1-C6F6-2E5C4AD892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3616" y="268435"/>
            <a:ext cx="5542384" cy="2593911"/>
          </a:xfrm>
          <a:prstGeom prst="rect">
            <a:avLst/>
          </a:prstGeom>
        </p:spPr>
      </p:pic>
      <p:pic>
        <p:nvPicPr>
          <p:cNvPr id="7" name="Picture 6">
            <a:extLst>
              <a:ext uri="{FF2B5EF4-FFF2-40B4-BE49-F238E27FC236}">
                <a16:creationId xmlns:a16="http://schemas.microsoft.com/office/drawing/2014/main" id="{2C17C90D-774E-FADA-0103-789FA9DDDE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32240" y="34462"/>
            <a:ext cx="5542384" cy="2509936"/>
          </a:xfrm>
          <a:prstGeom prst="rect">
            <a:avLst/>
          </a:prstGeom>
        </p:spPr>
      </p:pic>
      <p:pic>
        <p:nvPicPr>
          <p:cNvPr id="9" name="Picture 8">
            <a:extLst>
              <a:ext uri="{FF2B5EF4-FFF2-40B4-BE49-F238E27FC236}">
                <a16:creationId xmlns:a16="http://schemas.microsoft.com/office/drawing/2014/main" id="{C9DA2B63-8F94-31AA-65A6-8D745C0695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09029" y="3096320"/>
            <a:ext cx="8873412" cy="899336"/>
          </a:xfrm>
          <a:prstGeom prst="rect">
            <a:avLst/>
          </a:prstGeom>
        </p:spPr>
      </p:pic>
      <p:pic>
        <p:nvPicPr>
          <p:cNvPr id="11" name="Picture 10">
            <a:extLst>
              <a:ext uri="{FF2B5EF4-FFF2-40B4-BE49-F238E27FC236}">
                <a16:creationId xmlns:a16="http://schemas.microsoft.com/office/drawing/2014/main" id="{1D765026-A0F1-DFAC-AFDE-B85733ECC10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967" y="3995656"/>
            <a:ext cx="5645022" cy="2183363"/>
          </a:xfrm>
          <a:prstGeom prst="rect">
            <a:avLst/>
          </a:prstGeom>
        </p:spPr>
      </p:pic>
      <p:pic>
        <p:nvPicPr>
          <p:cNvPr id="13" name="Picture 12">
            <a:extLst>
              <a:ext uri="{FF2B5EF4-FFF2-40B4-BE49-F238E27FC236}">
                <a16:creationId xmlns:a16="http://schemas.microsoft.com/office/drawing/2014/main" id="{51EEBA57-895F-B2C5-D31A-08D517533CA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63682" y="3944272"/>
            <a:ext cx="6279501" cy="2183364"/>
          </a:xfrm>
          <a:prstGeom prst="rect">
            <a:avLst/>
          </a:prstGeom>
        </p:spPr>
      </p:pic>
      <p:sp>
        <p:nvSpPr>
          <p:cNvPr id="4" name="TextBox 3">
            <a:extLst>
              <a:ext uri="{FF2B5EF4-FFF2-40B4-BE49-F238E27FC236}">
                <a16:creationId xmlns:a16="http://schemas.microsoft.com/office/drawing/2014/main" id="{ADFEC8B0-448A-A6CC-6930-4E02D2E7A734}"/>
              </a:ext>
            </a:extLst>
          </p:cNvPr>
          <p:cNvSpPr txBox="1"/>
          <p:nvPr/>
        </p:nvSpPr>
        <p:spPr>
          <a:xfrm>
            <a:off x="1231539" y="2801185"/>
            <a:ext cx="3694422" cy="369332"/>
          </a:xfrm>
          <a:prstGeom prst="rect">
            <a:avLst/>
          </a:prstGeom>
          <a:noFill/>
        </p:spPr>
        <p:txBody>
          <a:bodyPr wrap="square" rtlCol="0">
            <a:spAutoFit/>
          </a:bodyPr>
          <a:lstStyle/>
          <a:p>
            <a:r>
              <a:rPr lang="en-IN" dirty="0"/>
              <a:t>Fig4:Indian Mutual funds</a:t>
            </a:r>
          </a:p>
        </p:txBody>
      </p:sp>
      <p:sp>
        <p:nvSpPr>
          <p:cNvPr id="8" name="TextBox 7">
            <a:extLst>
              <a:ext uri="{FF2B5EF4-FFF2-40B4-BE49-F238E27FC236}">
                <a16:creationId xmlns:a16="http://schemas.microsoft.com/office/drawing/2014/main" id="{ADB3F4BE-E480-AD51-C7F1-F160D5245137}"/>
              </a:ext>
            </a:extLst>
          </p:cNvPr>
          <p:cNvSpPr txBox="1"/>
          <p:nvPr/>
        </p:nvSpPr>
        <p:spPr>
          <a:xfrm>
            <a:off x="6773923" y="2544398"/>
            <a:ext cx="3908600" cy="369332"/>
          </a:xfrm>
          <a:prstGeom prst="rect">
            <a:avLst/>
          </a:prstGeom>
          <a:noFill/>
        </p:spPr>
        <p:txBody>
          <a:bodyPr wrap="square" rtlCol="0">
            <a:spAutoFit/>
          </a:bodyPr>
          <a:lstStyle/>
          <a:p>
            <a:r>
              <a:rPr lang="en-IN" dirty="0"/>
              <a:t>Fig5:comparison of Algorithms</a:t>
            </a:r>
          </a:p>
        </p:txBody>
      </p:sp>
      <p:sp>
        <p:nvSpPr>
          <p:cNvPr id="10" name="TextBox 9">
            <a:extLst>
              <a:ext uri="{FF2B5EF4-FFF2-40B4-BE49-F238E27FC236}">
                <a16:creationId xmlns:a16="http://schemas.microsoft.com/office/drawing/2014/main" id="{FEEDDFC9-4292-CD09-FA94-31332293CBB1}"/>
              </a:ext>
            </a:extLst>
          </p:cNvPr>
          <p:cNvSpPr txBox="1"/>
          <p:nvPr/>
        </p:nvSpPr>
        <p:spPr>
          <a:xfrm>
            <a:off x="553616" y="6230402"/>
            <a:ext cx="3290797" cy="369332"/>
          </a:xfrm>
          <a:prstGeom prst="rect">
            <a:avLst/>
          </a:prstGeom>
          <a:noFill/>
        </p:spPr>
        <p:txBody>
          <a:bodyPr wrap="square" rtlCol="0">
            <a:spAutoFit/>
          </a:bodyPr>
          <a:lstStyle/>
          <a:p>
            <a:r>
              <a:rPr lang="en-IN" dirty="0"/>
              <a:t>Fig6:Historical graph</a:t>
            </a:r>
          </a:p>
        </p:txBody>
      </p:sp>
      <p:sp>
        <p:nvSpPr>
          <p:cNvPr id="12" name="TextBox 11">
            <a:extLst>
              <a:ext uri="{FF2B5EF4-FFF2-40B4-BE49-F238E27FC236}">
                <a16:creationId xmlns:a16="http://schemas.microsoft.com/office/drawing/2014/main" id="{B8BF0FA8-A186-964E-1877-E3E5514FCA01}"/>
              </a:ext>
            </a:extLst>
          </p:cNvPr>
          <p:cNvSpPr txBox="1"/>
          <p:nvPr/>
        </p:nvSpPr>
        <p:spPr>
          <a:xfrm>
            <a:off x="6371281" y="6112482"/>
            <a:ext cx="4311242" cy="369332"/>
          </a:xfrm>
          <a:prstGeom prst="rect">
            <a:avLst/>
          </a:prstGeom>
          <a:noFill/>
        </p:spPr>
        <p:txBody>
          <a:bodyPr wrap="square" rtlCol="0">
            <a:spAutoFit/>
          </a:bodyPr>
          <a:lstStyle/>
          <a:p>
            <a:r>
              <a:rPr lang="en-IN" dirty="0"/>
              <a:t>Fig7:predicted graph</a:t>
            </a:r>
          </a:p>
        </p:txBody>
      </p:sp>
    </p:spTree>
    <p:extLst>
      <p:ext uri="{BB962C8B-B14F-4D97-AF65-F5344CB8AC3E}">
        <p14:creationId xmlns:p14="http://schemas.microsoft.com/office/powerpoint/2010/main" val="16054134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DF6D7-194D-CF5E-581C-F81904D0D7D7}"/>
              </a:ext>
            </a:extLst>
          </p:cNvPr>
          <p:cNvSpPr>
            <a:spLocks noGrp="1"/>
          </p:cNvSpPr>
          <p:nvPr>
            <p:ph type="title"/>
          </p:nvPr>
        </p:nvSpPr>
        <p:spPr>
          <a:xfrm>
            <a:off x="838200" y="83977"/>
            <a:ext cx="10515600" cy="979713"/>
          </a:xfrm>
        </p:spPr>
        <p:txBody>
          <a:bodyPr/>
          <a:lstStyle/>
          <a:p>
            <a:pPr algn="ctr"/>
            <a:r>
              <a:rPr lang="en-US" b="1" dirty="0">
                <a:latin typeface="Times New Roman" panose="02020603050405020304" pitchFamily="18" charset="0"/>
                <a:cs typeface="Times New Roman" panose="02020603050405020304" pitchFamily="18" charset="0"/>
              </a:rPr>
              <a:t>Pseudo Code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2F1F7DF-ED77-6D12-C2F2-F38EF5AA36D0}"/>
              </a:ext>
            </a:extLst>
          </p:cNvPr>
          <p:cNvSpPr>
            <a:spLocks noGrp="1"/>
          </p:cNvSpPr>
          <p:nvPr>
            <p:ph sz="half" idx="1"/>
          </p:nvPr>
        </p:nvSpPr>
        <p:spPr>
          <a:xfrm>
            <a:off x="466531" y="843123"/>
            <a:ext cx="5553269" cy="5790941"/>
          </a:xfrm>
        </p:spPr>
        <p:txBody>
          <a:bodyPr>
            <a:no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ptos" panose="020B0604020202020204" pitchFamily="34" charset="0"/>
                <a:ea typeface="Aptos" panose="020B0604020202020204" pitchFamily="34" charset="0"/>
                <a:cs typeface="Times New Roman" panose="02020603050405020304" pitchFamily="18" charset="0"/>
              </a:rPr>
              <a:t> </a:t>
            </a:r>
            <a:r>
              <a:rPr kumimoji="0" lang="en-US" altLang="en-US" sz="1600" b="1" i="0" u="none" strike="noStrike" cap="none" normalizeH="0" baseline="0" dirty="0">
                <a:ln>
                  <a:noFill/>
                </a:ln>
                <a:solidFill>
                  <a:schemeClr val="tx1"/>
                </a:solidFill>
                <a:effectLst/>
                <a:latin typeface="Aptos" panose="020B0604020202020204" pitchFamily="34" charset="0"/>
                <a:ea typeface="Aptos" panose="020B0604020202020204" pitchFamily="34" charset="0"/>
                <a:cs typeface="Times New Roman" panose="02020603050405020304" pitchFamily="18" charset="0"/>
              </a:rPr>
              <a:t>Dashboard – High-Level Flow</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ptos" panose="020B0604020202020204" pitchFamily="34" charset="0"/>
                <a:ea typeface="Aptos" panose="020B0604020202020204" pitchFamily="34" charset="0"/>
                <a:cs typeface="Times New Roman" panose="02020603050405020304" pitchFamily="18" charset="0"/>
              </a:rPr>
              <a:t>ON user login:</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ptos" panose="020B0604020202020204" pitchFamily="34" charset="0"/>
                <a:ea typeface="Aptos" panose="020B0604020202020204" pitchFamily="34" charset="0"/>
                <a:cs typeface="Times New Roman" panose="02020603050405020304" pitchFamily="18" charset="0"/>
              </a:rPr>
              <a:t>    → Verify username &amp; password</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ptos" panose="020B0604020202020204" pitchFamily="34" charset="0"/>
                <a:ea typeface="Aptos" panose="020B0604020202020204" pitchFamily="34" charset="0"/>
                <a:cs typeface="Times New Roman" panose="02020603050405020304" pitchFamily="18" charset="0"/>
              </a:rPr>
              <a:t>    → If valid:</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ptos" panose="020B0604020202020204" pitchFamily="34" charset="0"/>
                <a:ea typeface="Aptos" panose="020B0604020202020204" pitchFamily="34" charset="0"/>
                <a:cs typeface="Times New Roman" panose="02020603050405020304" pitchFamily="18" charset="0"/>
              </a:rPr>
              <a:t>        - Load user preferences (algorithm, </a:t>
            </a:r>
            <a:r>
              <a:rPr kumimoji="0" lang="en-US" altLang="en-US" sz="1400" b="0" i="0" u="none" strike="noStrike" cap="none" normalizeH="0" baseline="0" dirty="0" err="1">
                <a:ln>
                  <a:noFill/>
                </a:ln>
                <a:solidFill>
                  <a:schemeClr val="tx1"/>
                </a:solidFill>
                <a:effectLst/>
                <a:latin typeface="Aptos" panose="020B0604020202020204" pitchFamily="34" charset="0"/>
                <a:ea typeface="Aptos" panose="020B0604020202020204" pitchFamily="34" charset="0"/>
                <a:cs typeface="Times New Roman" panose="02020603050405020304" pitchFamily="18" charset="0"/>
              </a:rPr>
              <a:t>forecast_days</a:t>
            </a:r>
            <a:r>
              <a:rPr kumimoji="0" lang="en-US" altLang="en-US" sz="1400" b="0" i="0" u="none" strike="noStrike" cap="none" normalizeH="0" baseline="0" dirty="0">
                <a:ln>
                  <a:noFill/>
                </a:ln>
                <a:solidFill>
                  <a:schemeClr val="tx1"/>
                </a:solidFill>
                <a:effectLst/>
                <a:latin typeface="Aptos" panose="020B0604020202020204" pitchFamily="34" charset="0"/>
                <a:ea typeface="Aptos" panose="020B0604020202020204" pitchFamily="34" charset="0"/>
                <a:cs typeface="Times New Roman" panose="02020603050405020304" pitchFamily="18" charset="0"/>
              </a:rPr>
              <a:t>, etc.)</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ptos" panose="020B0604020202020204" pitchFamily="34" charset="0"/>
                <a:ea typeface="Aptos" panose="020B0604020202020204" pitchFamily="34" charset="0"/>
                <a:cs typeface="Times New Roman" panose="02020603050405020304" pitchFamily="18" charset="0"/>
              </a:rPr>
              <a:t>        - Load recent prediction history (stocks + mutual funds)</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ptos" panose="020B0604020202020204" pitchFamily="34" charset="0"/>
                <a:ea typeface="Aptos" panose="020B0604020202020204" pitchFamily="34" charset="0"/>
                <a:cs typeface="Times New Roman" panose="02020603050405020304" pitchFamily="18" charset="0"/>
              </a:rPr>
              <a:t>        - Load latest gold &amp; silver prices (optional)</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ptos" panose="020B0604020202020204" pitchFamily="34" charset="0"/>
                <a:ea typeface="Aptos" panose="020B0604020202020204" pitchFamily="34" charset="0"/>
                <a:cs typeface="Times New Roman" panose="02020603050405020304" pitchFamily="18" charset="0"/>
              </a:rPr>
              <a:t>    → Open DASHBOARD page</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ptos" panose="020B0604020202020204" pitchFamily="34" charset="0"/>
                <a:ea typeface="Aptos" panose="020B0604020202020204" pitchFamily="34" charset="0"/>
                <a:cs typeface="Times New Roman" panose="02020603050405020304" pitchFamily="18" charset="0"/>
              </a:rPr>
              <a:t>DASHBOARD shows:</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ptos" panose="020B0604020202020204" pitchFamily="34" charset="0"/>
                <a:ea typeface="Aptos" panose="020B0604020202020204" pitchFamily="34" charset="0"/>
                <a:cs typeface="Times New Roman" panose="02020603050405020304" pitchFamily="18" charset="0"/>
              </a:rPr>
              <a:t>    - Input box for symbol (Stock / Mutual Fund)</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ptos" panose="020B0604020202020204" pitchFamily="34" charset="0"/>
                <a:ea typeface="Aptos" panose="020B0604020202020204" pitchFamily="34" charset="0"/>
                <a:cs typeface="Times New Roman" panose="02020603050405020304" pitchFamily="18" charset="0"/>
              </a:rPr>
              <a:t>    - Dropdown for algorithm (LSTM / RF / Linear / Prophet)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ptos" panose="020B0604020202020204" pitchFamily="34" charset="0"/>
                <a:ea typeface="Aptos" panose="020B0604020202020204" pitchFamily="34" charset="0"/>
                <a:cs typeface="Times New Roman" panose="02020603050405020304" pitchFamily="18" charset="0"/>
              </a:rPr>
              <a:t>    - Forecast period selection (e.g., 30 / 60 / 90 days)</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ptos" panose="020B0604020202020204" pitchFamily="34" charset="0"/>
                <a:ea typeface="Aptos" panose="020B0604020202020204" pitchFamily="34" charset="0"/>
                <a:cs typeface="Times New Roman" panose="02020603050405020304" pitchFamily="18" charset="0"/>
              </a:rPr>
              <a:t>    - Cards:</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ptos" panose="020B0604020202020204" pitchFamily="34" charset="0"/>
                <a:ea typeface="Aptos" panose="020B0604020202020204" pitchFamily="34" charset="0"/>
                <a:cs typeface="Times New Roman" panose="02020603050405020304" pitchFamily="18" charset="0"/>
              </a:rPr>
              <a:t>        • Current price</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ptos" panose="020B0604020202020204" pitchFamily="34" charset="0"/>
                <a:ea typeface="Aptos" panose="020B0604020202020204" pitchFamily="34" charset="0"/>
                <a:cs typeface="Times New Roman" panose="02020603050405020304" pitchFamily="18" charset="0"/>
              </a:rPr>
              <a:t>        • Predicted average price</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ptos" panose="020B0604020202020204" pitchFamily="34" charset="0"/>
                <a:ea typeface="Aptos" panose="020B0604020202020204" pitchFamily="34" charset="0"/>
                <a:cs typeface="Times New Roman" panose="02020603050405020304" pitchFamily="18" charset="0"/>
              </a:rPr>
              <a:t>        • Accuracy &amp; RMSE</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ptos" panose="020B0604020202020204" pitchFamily="34" charset="0"/>
                <a:ea typeface="Aptos" panose="020B0604020202020204" pitchFamily="34" charset="0"/>
                <a:cs typeface="Times New Roman" panose="02020603050405020304" pitchFamily="18" charset="0"/>
              </a:rPr>
              <a:t>        • Buy / Wait indication</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ptos" panose="020B0604020202020204" pitchFamily="34" charset="0"/>
                <a:ea typeface="Aptos" panose="020B0604020202020204" pitchFamily="34" charset="0"/>
                <a:cs typeface="Times New Roman" panose="02020603050405020304" pitchFamily="18" charset="0"/>
              </a:rPr>
              <a:t>    - Charts:</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ptos" panose="020B0604020202020204" pitchFamily="34" charset="0"/>
                <a:ea typeface="Aptos" panose="020B0604020202020204" pitchFamily="34" charset="0"/>
                <a:cs typeface="Times New Roman" panose="02020603050405020304" pitchFamily="18" charset="0"/>
              </a:rPr>
              <a:t>        • Historical price graph</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ptos" panose="020B0604020202020204" pitchFamily="34" charset="0"/>
                <a:ea typeface="Aptos" panose="020B0604020202020204" pitchFamily="34" charset="0"/>
                <a:cs typeface="Times New Roman" panose="02020603050405020304" pitchFamily="18" charset="0"/>
              </a:rPr>
              <a:t>        • Future prediction graph (line chart)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ptos" panose="020B0604020202020204" pitchFamily="34" charset="0"/>
                <a:ea typeface="Aptos" panose="020B0604020202020204" pitchFamily="34" charset="0"/>
                <a:cs typeface="Times New Roman" panose="02020603050405020304" pitchFamily="18" charset="0"/>
              </a:rPr>
              <a:t>        • Algorithm comparison (bar chart – accuracy / RMSE)</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ptos" panose="020B0604020202020204" pitchFamily="34" charset="0"/>
                <a:ea typeface="Aptos" panose="020B0604020202020204" pitchFamily="34" charset="0"/>
                <a:cs typeface="Times New Roman" panose="02020603050405020304" pitchFamily="18" charset="0"/>
              </a:rPr>
              <a:t>ON user click "Predict":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ptos" panose="020B0604020202020204" pitchFamily="34" charset="0"/>
                <a:ea typeface="Aptos" panose="020B0604020202020204" pitchFamily="34" charset="0"/>
                <a:cs typeface="Times New Roman" panose="02020603050405020304" pitchFamily="18" charset="0"/>
              </a:rPr>
              <a:t>    → Send symbol + </a:t>
            </a:r>
            <a:r>
              <a:rPr kumimoji="0" lang="en-US" altLang="en-US" sz="1400" b="0" i="0" u="none" strike="noStrike" cap="none" normalizeH="0" baseline="0" dirty="0" err="1">
                <a:ln>
                  <a:noFill/>
                </a:ln>
                <a:solidFill>
                  <a:schemeClr val="tx1"/>
                </a:solidFill>
                <a:effectLst/>
                <a:latin typeface="Aptos" panose="020B0604020202020204" pitchFamily="34" charset="0"/>
                <a:ea typeface="Aptos" panose="020B0604020202020204" pitchFamily="34" charset="0"/>
                <a:cs typeface="Times New Roman" panose="02020603050405020304" pitchFamily="18" charset="0"/>
              </a:rPr>
              <a:t>forecast_days</a:t>
            </a:r>
            <a:r>
              <a:rPr kumimoji="0" lang="en-US" altLang="en-US" sz="1400" b="0" i="0" u="none" strike="noStrike" cap="none" normalizeH="0" baseline="0" dirty="0">
                <a:ln>
                  <a:noFill/>
                </a:ln>
                <a:solidFill>
                  <a:schemeClr val="tx1"/>
                </a:solidFill>
                <a:effectLst/>
                <a:latin typeface="Aptos" panose="020B0604020202020204" pitchFamily="34" charset="0"/>
                <a:ea typeface="Aptos" panose="020B0604020202020204" pitchFamily="34" charset="0"/>
                <a:cs typeface="Times New Roman" panose="02020603050405020304" pitchFamily="18" charset="0"/>
              </a:rPr>
              <a:t> + algorithm to backend `/predict` API</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ptos" panose="020B0604020202020204" pitchFamily="34" charset="0"/>
                <a:ea typeface="Aptos" panose="020B0604020202020204" pitchFamily="34" charset="0"/>
                <a:cs typeface="Times New Roman" panose="02020603050405020304" pitchFamily="18" charset="0"/>
              </a:rPr>
              <a:t>    → Receive JSON with predictions + metrics</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ptos" panose="020B0604020202020204" pitchFamily="34" charset="0"/>
                <a:ea typeface="Aptos" panose="020B0604020202020204" pitchFamily="34" charset="0"/>
                <a:cs typeface="Times New Roman" panose="02020603050405020304" pitchFamily="18" charset="0"/>
              </a:rPr>
              <a:t>    → Update dashboard cards, tables, and charts in real-time</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ptos" panose="020B0604020202020204" pitchFamily="34" charset="0"/>
                <a:ea typeface="Aptos" panose="020B0604020202020204" pitchFamily="34" charset="0"/>
                <a:cs typeface="Times New Roman" panose="02020603050405020304" pitchFamily="18" charset="0"/>
              </a:rPr>
              <a:t>    → Option: allow user to download CSV of predictions</a:t>
            </a:r>
            <a:endParaRPr lang="en-IN" sz="1400" dirty="0"/>
          </a:p>
        </p:txBody>
      </p:sp>
      <p:sp>
        <p:nvSpPr>
          <p:cNvPr id="9" name="Rectangle 5">
            <a:extLst>
              <a:ext uri="{FF2B5EF4-FFF2-40B4-BE49-F238E27FC236}">
                <a16:creationId xmlns:a16="http://schemas.microsoft.com/office/drawing/2014/main" id="{974079DD-F2C0-9E8E-1631-8AF527A94BDD}"/>
              </a:ext>
            </a:extLst>
          </p:cNvPr>
          <p:cNvSpPr>
            <a:spLocks noChangeArrowheads="1"/>
          </p:cNvSpPr>
          <p:nvPr/>
        </p:nvSpPr>
        <p:spPr bwMode="auto">
          <a:xfrm>
            <a:off x="6267061" y="1709829"/>
            <a:ext cx="4127241"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Live Market Prediction – High-Level Flow</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USER SIDE (Dashboard):</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1. User enters:</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 Symbol (Stock / Mutual Fund)</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 Algorithm (e.g., LSTM / RF / Linear / Prophet)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 Mode = "Live"</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2. Frontend starts a TIMER (e.g., every 30–60 seconds):</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 Call backend `/live-predict` API with symbol + algorithm</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 Update:</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 Live price card</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 Short-term predicted price</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 Mini chart (last X minutes + next few points)</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96124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538D9F-05E3-74F0-4857-72EC25A5DD51}"/>
              </a:ext>
            </a:extLst>
          </p:cNvPr>
          <p:cNvSpPr>
            <a:spLocks noGrp="1"/>
          </p:cNvSpPr>
          <p:nvPr>
            <p:ph idx="1"/>
          </p:nvPr>
        </p:nvSpPr>
        <p:spPr>
          <a:xfrm>
            <a:off x="3303037" y="2416628"/>
            <a:ext cx="9050694" cy="1884783"/>
          </a:xfrm>
        </p:spPr>
        <p:txBody>
          <a:bodyPr numCol="2">
            <a:normAutofit/>
          </a:bodyPr>
          <a:lstStyle/>
          <a:p>
            <a:pPr marL="0" indent="0" algn="ctr">
              <a:buNone/>
            </a:pPr>
            <a:r>
              <a:rPr lang="en-US" sz="6000" b="1" dirty="0"/>
              <a:t>THANK YOU</a:t>
            </a:r>
            <a:endParaRPr lang="en-IN" sz="6000" b="1" dirty="0"/>
          </a:p>
        </p:txBody>
      </p:sp>
    </p:spTree>
    <p:extLst>
      <p:ext uri="{BB962C8B-B14F-4D97-AF65-F5344CB8AC3E}">
        <p14:creationId xmlns:p14="http://schemas.microsoft.com/office/powerpoint/2010/main" val="2627080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856</TotalTime>
  <Words>1400</Words>
  <Application>Microsoft Office PowerPoint</Application>
  <PresentationFormat>Widescreen</PresentationFormat>
  <Paragraphs>179</Paragraphs>
  <Slides>21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Aptos</vt:lpstr>
      <vt:lpstr>Arial</vt:lpstr>
      <vt:lpstr>Calibri</vt:lpstr>
      <vt:lpstr>Calibri Light</vt:lpstr>
      <vt:lpstr>Times New Roman</vt:lpstr>
      <vt:lpstr>Office Theme</vt:lpstr>
      <vt:lpstr>Comparison Of Multiple Algorithms For Stock Price Prediction Based On Accuracy</vt:lpstr>
      <vt:lpstr>ABSTRACT</vt:lpstr>
      <vt:lpstr>INTRODUCTION</vt:lpstr>
      <vt:lpstr>PowerPoint Presentation</vt:lpstr>
      <vt:lpstr>PROBLEM STATEMENT</vt:lpstr>
      <vt:lpstr>OBJECTIVES</vt:lpstr>
      <vt:lpstr>SOFTWARE SPECIATION REQUIREMENTS</vt:lpstr>
      <vt:lpstr>DESIGN</vt:lpstr>
      <vt:lpstr>METHODOLOGY</vt:lpstr>
      <vt:lpstr>Data Flow Diagram</vt:lpstr>
      <vt:lpstr> Algorithms</vt:lpstr>
      <vt:lpstr>PowerPoint Presentation</vt:lpstr>
      <vt:lpstr>IMPLEMENTATION</vt:lpstr>
      <vt:lpstr>TESTING</vt:lpstr>
      <vt:lpstr>CONCLUSION</vt:lpstr>
      <vt:lpstr>FUTURE ENHANCEMENT</vt:lpstr>
      <vt:lpstr>REFERENCES</vt:lpstr>
      <vt:lpstr>0UTPUTS</vt:lpstr>
      <vt:lpstr>PowerPoint Presentation</vt:lpstr>
      <vt:lpstr>Pseudo Code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DELL</dc:creator>
  <cp:lastModifiedBy>DELL</cp:lastModifiedBy>
  <cp:revision>30</cp:revision>
  <dcterms:created xsi:type="dcterms:W3CDTF">2025-10-29T17:41:32Z</dcterms:created>
  <dcterms:modified xsi:type="dcterms:W3CDTF">2025-11-27T03:58:34Z</dcterms:modified>
</cp:coreProperties>
</file>