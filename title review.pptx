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59" r:id="rId5"/>
    <p:sldId id="263"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C5F1-E39D-534D-90BF-7584C1F5F2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48E791-77DA-6D7D-CFDC-ACAF5AECA5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05728B-D14C-DF17-B58F-91BC90E339FD}"/>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5" name="Footer Placeholder 4">
            <a:extLst>
              <a:ext uri="{FF2B5EF4-FFF2-40B4-BE49-F238E27FC236}">
                <a16:creationId xmlns:a16="http://schemas.microsoft.com/office/drawing/2014/main" id="{ACA51B1C-A960-D36E-C485-4ABA0C5191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07A765-5431-EC71-EBD8-94DF11321F25}"/>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3422329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147F-6E97-E4C5-1581-C3E6237ECA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30C761-11C2-D153-C283-3177ED8F9E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0202BF-0F38-9821-09A8-5227186DA878}"/>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5" name="Footer Placeholder 4">
            <a:extLst>
              <a:ext uri="{FF2B5EF4-FFF2-40B4-BE49-F238E27FC236}">
                <a16:creationId xmlns:a16="http://schemas.microsoft.com/office/drawing/2014/main" id="{4BC22E50-BFB3-9614-00EA-BAD19C6568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01539C-6F31-6A1E-9D1D-676333AB1867}"/>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3307242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10AE1-45C5-B53B-8FC4-7436E94795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0B587B-5B64-8BC1-DC3F-560D7A87DD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C0E3AC-37FE-059A-3C40-58401397233F}"/>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5" name="Footer Placeholder 4">
            <a:extLst>
              <a:ext uri="{FF2B5EF4-FFF2-40B4-BE49-F238E27FC236}">
                <a16:creationId xmlns:a16="http://schemas.microsoft.com/office/drawing/2014/main" id="{071A63FA-58F5-5F67-C8EB-78B52C4804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68DD9F-0FE7-A806-BD7D-251923F3BEA1}"/>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644605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04A68-0E0A-3319-8925-80748D9869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C4C335-76BE-4A1B-32AF-A9C71C53B1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323D0A-AB4C-129F-0D66-77DF71F0E3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1D96-D032-0D60-E709-67F1911BD942}"/>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6" name="Footer Placeholder 5">
            <a:extLst>
              <a:ext uri="{FF2B5EF4-FFF2-40B4-BE49-F238E27FC236}">
                <a16:creationId xmlns:a16="http://schemas.microsoft.com/office/drawing/2014/main" id="{5EAABB31-0898-DC5C-5FE2-C2844CEEA4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60567A-0C95-7256-C883-884DA210E469}"/>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2923831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0C00E-26F8-DCF8-A9F6-FA37410748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8BE41B-2040-1AFB-E593-5EF2D9D6BB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0BBA21-68F0-208E-7CE0-5B7BE0D2AD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FAD03D7-9578-6820-06B3-2DBC7276A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10086A-4FC7-1B56-DCCB-97D7311057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E3F4FE-01D8-5F16-D686-F7E856EA3B0D}"/>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8" name="Footer Placeholder 7">
            <a:extLst>
              <a:ext uri="{FF2B5EF4-FFF2-40B4-BE49-F238E27FC236}">
                <a16:creationId xmlns:a16="http://schemas.microsoft.com/office/drawing/2014/main" id="{3F07EDDD-7CF5-9EBB-9C7A-C8C30725F4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A45838-B110-1022-6253-1A5888B96306}"/>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4153059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CC44C-045C-15A5-B3EB-3EBCF55F22B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7A9E2D-B24D-08FA-D94C-207920A1BBC8}"/>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4" name="Footer Placeholder 3">
            <a:extLst>
              <a:ext uri="{FF2B5EF4-FFF2-40B4-BE49-F238E27FC236}">
                <a16:creationId xmlns:a16="http://schemas.microsoft.com/office/drawing/2014/main" id="{F618A1EB-678C-C4BC-033F-1284CC34B6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F947FC3-FDCF-584F-4CDD-3B441A337C07}"/>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141405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20C7C9-4A33-D631-2BC5-BC42E05195BF}"/>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3" name="Footer Placeholder 2">
            <a:extLst>
              <a:ext uri="{FF2B5EF4-FFF2-40B4-BE49-F238E27FC236}">
                <a16:creationId xmlns:a16="http://schemas.microsoft.com/office/drawing/2014/main" id="{B53D5CC2-EF95-30C0-71BE-EC8DA31EF1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823E17-D4F2-7A11-7C9B-569658E9680A}"/>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1697938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E6182-DA28-BB7C-FCA5-3DAC71224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C19C9F-A3C5-22ED-1DB7-2557EF9EC9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E88CD3-70B9-19F9-2CF7-F939E111FE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576A24-F866-2A69-966B-207C8BE0A6F6}"/>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6" name="Footer Placeholder 5">
            <a:extLst>
              <a:ext uri="{FF2B5EF4-FFF2-40B4-BE49-F238E27FC236}">
                <a16:creationId xmlns:a16="http://schemas.microsoft.com/office/drawing/2014/main" id="{7F5E04C2-A686-66D3-C548-DD9BA0A47F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D85BA3-9EB4-BB94-3652-7C25A16D7DD4}"/>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405638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350D3-65A0-D01B-D04E-49AA9D996A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CCE5C4-1659-AD38-0B39-BEBD948FDD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C6EF3A-09C8-B744-CD7E-40138616DF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691964-558A-7F99-DB06-DB9922C82BE3}"/>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6" name="Footer Placeholder 5">
            <a:extLst>
              <a:ext uri="{FF2B5EF4-FFF2-40B4-BE49-F238E27FC236}">
                <a16:creationId xmlns:a16="http://schemas.microsoft.com/office/drawing/2014/main" id="{0DAC216C-C19A-4811-870F-E66A94B7C9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D795BA-6446-AE9A-1423-9C8DF00271BE}"/>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441189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AE8EB-F326-0AC1-7E3A-DF7F4389FB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571C9C-07D2-E62F-D98F-EC0A6B475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0DBA77-4637-EF44-FC6B-3C4434EAE476}"/>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5" name="Footer Placeholder 4">
            <a:extLst>
              <a:ext uri="{FF2B5EF4-FFF2-40B4-BE49-F238E27FC236}">
                <a16:creationId xmlns:a16="http://schemas.microsoft.com/office/drawing/2014/main" id="{1934005F-1BD0-52D8-233F-524286A6E7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59B87C-A231-337B-EBE9-866B71A798FA}"/>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3905789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2283E8-BE71-812B-7EA5-A6A2558BC3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352506-6A83-4CFB-3327-BE154C2001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54F6F-3461-F291-0EB9-80502EE92322}"/>
              </a:ext>
            </a:extLst>
          </p:cNvPr>
          <p:cNvSpPr>
            <a:spLocks noGrp="1"/>
          </p:cNvSpPr>
          <p:nvPr>
            <p:ph type="dt" sz="half" idx="10"/>
          </p:nvPr>
        </p:nvSpPr>
        <p:spPr/>
        <p:txBody>
          <a:bodyPr/>
          <a:lstStyle/>
          <a:p>
            <a:fld id="{56F43BB6-B026-4D76-A884-68DBC5C3169E}" type="datetimeFigureOut">
              <a:rPr lang="en-IN" smtClean="0"/>
              <a:t>30-10-2025</a:t>
            </a:fld>
            <a:endParaRPr lang="en-IN"/>
          </a:p>
        </p:txBody>
      </p:sp>
      <p:sp>
        <p:nvSpPr>
          <p:cNvPr id="5" name="Footer Placeholder 4">
            <a:extLst>
              <a:ext uri="{FF2B5EF4-FFF2-40B4-BE49-F238E27FC236}">
                <a16:creationId xmlns:a16="http://schemas.microsoft.com/office/drawing/2014/main" id="{67FA7B59-7F59-1DFF-3C8C-03B02299AD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D18CD6-39F2-BAC5-7556-6A51A22F4671}"/>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419660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8C8CF9-DC60-4F2D-5AC4-B88A5342EE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3D00A5-32AE-E823-6841-5BBC4C023A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EFE5B6-975F-C87D-120F-BCDA44179D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F43BB6-B026-4D76-A884-68DBC5C3169E}" type="datetimeFigureOut">
              <a:rPr lang="en-IN" smtClean="0"/>
              <a:t>30-10-2025</a:t>
            </a:fld>
            <a:endParaRPr lang="en-IN"/>
          </a:p>
        </p:txBody>
      </p:sp>
      <p:sp>
        <p:nvSpPr>
          <p:cNvPr id="5" name="Footer Placeholder 4">
            <a:extLst>
              <a:ext uri="{FF2B5EF4-FFF2-40B4-BE49-F238E27FC236}">
                <a16:creationId xmlns:a16="http://schemas.microsoft.com/office/drawing/2014/main" id="{B524F4D3-E365-5524-A6D6-94D5030660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8ED038F-2FB5-F121-2219-2FBCEF886A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EE92A-FD82-4682-A6E4-ACD02626366E}" type="slidenum">
              <a:rPr lang="en-IN" smtClean="0"/>
              <a:t>‹#›</a:t>
            </a:fld>
            <a:endParaRPr lang="en-IN"/>
          </a:p>
        </p:txBody>
      </p:sp>
    </p:spTree>
    <p:extLst>
      <p:ext uri="{BB962C8B-B14F-4D97-AF65-F5344CB8AC3E}">
        <p14:creationId xmlns:p14="http://schemas.microsoft.com/office/powerpoint/2010/main" val="3047408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371658-2C4E-0FAF-D7E2-506EE5FBEC9A}"/>
              </a:ext>
            </a:extLst>
          </p:cNvPr>
          <p:cNvSpPr>
            <a:spLocks noGrp="1"/>
          </p:cNvSpPr>
          <p:nvPr>
            <p:ph type="ctrTitle"/>
          </p:nvPr>
        </p:nvSpPr>
        <p:spPr>
          <a:xfrm>
            <a:off x="1524000" y="1122363"/>
            <a:ext cx="9144000" cy="2387600"/>
          </a:xfrm>
        </p:spPr>
        <p:txBody>
          <a:bodyPr>
            <a:normAutofit/>
          </a:bodyPr>
          <a:lstStyle/>
          <a:p>
            <a:r>
              <a:rPr lang="en-US" sz="3200" b="1" dirty="0">
                <a:latin typeface="Bookman Old Style" panose="02050604050505020204" pitchFamily="18" charset="0"/>
              </a:rPr>
              <a:t>Comparison of multiple algorithms for stock price prediction based on accuracy</a:t>
            </a:r>
            <a:endParaRPr lang="en-IN" sz="3200" b="1" dirty="0">
              <a:latin typeface="Bookman Old Style" panose="02050604050505020204" pitchFamily="18" charset="0"/>
            </a:endParaRPr>
          </a:p>
        </p:txBody>
      </p:sp>
      <p:sp>
        <p:nvSpPr>
          <p:cNvPr id="5" name="Subtitle 4">
            <a:extLst>
              <a:ext uri="{FF2B5EF4-FFF2-40B4-BE49-F238E27FC236}">
                <a16:creationId xmlns:a16="http://schemas.microsoft.com/office/drawing/2014/main" id="{7A4D3582-7F6F-CBFA-29A6-F8C34CD05B52}"/>
              </a:ext>
            </a:extLst>
          </p:cNvPr>
          <p:cNvSpPr>
            <a:spLocks noGrp="1"/>
          </p:cNvSpPr>
          <p:nvPr>
            <p:ph type="subTitle" idx="1"/>
          </p:nvPr>
        </p:nvSpPr>
        <p:spPr>
          <a:xfrm>
            <a:off x="1421363" y="3611369"/>
            <a:ext cx="9144000" cy="3012122"/>
          </a:xfrm>
        </p:spPr>
        <p:txBody>
          <a:bodyPr>
            <a:normAutofit/>
          </a:bodyPr>
          <a:lstStyle/>
          <a:p>
            <a:pPr algn="just"/>
            <a:r>
              <a:rPr lang="en-IN" sz="1500" dirty="0">
                <a:latin typeface="Bookman Old Style" panose="02050604050505020204" pitchFamily="18" charset="0"/>
              </a:rPr>
              <a:t>                                              M GAGANA SREE(1SJ23AD028)</a:t>
            </a:r>
          </a:p>
          <a:p>
            <a:pPr algn="just"/>
            <a:r>
              <a:rPr lang="en-IN" sz="1500" dirty="0">
                <a:latin typeface="Bookman Old Style" panose="02050604050505020204" pitchFamily="18" charset="0"/>
              </a:rPr>
              <a:t>                                              K CHANDRA PRIYA(1SJ23AD021)</a:t>
            </a:r>
          </a:p>
          <a:p>
            <a:pPr algn="just"/>
            <a:r>
              <a:rPr lang="en-IN" sz="1500" dirty="0">
                <a:latin typeface="Bookman Old Style" panose="02050604050505020204" pitchFamily="18" charset="0"/>
              </a:rPr>
              <a:t>                                              S BHAVYA  SREE(1SJ23AD051)</a:t>
            </a:r>
          </a:p>
          <a:p>
            <a:pPr algn="just"/>
            <a:r>
              <a:rPr lang="en-IN" sz="1500" dirty="0">
                <a:latin typeface="Bookman Old Style" panose="02050604050505020204" pitchFamily="18" charset="0"/>
              </a:rPr>
              <a:t>                                              PALLAVI B GOWDA(1SJ23AD035)</a:t>
            </a:r>
          </a:p>
          <a:p>
            <a:pPr algn="just"/>
            <a:r>
              <a:rPr lang="en-IN" sz="1500" b="1" dirty="0">
                <a:latin typeface="Bookman Old Style" panose="02050604050505020204" pitchFamily="18" charset="0"/>
              </a:rPr>
              <a:t>                                                 </a:t>
            </a:r>
          </a:p>
          <a:p>
            <a:pPr algn="just"/>
            <a:r>
              <a:rPr lang="en-IN" sz="1400" b="1" dirty="0">
                <a:latin typeface="Bookman Old Style" panose="02050604050505020204" pitchFamily="18" charset="0"/>
              </a:rPr>
              <a:t>                                                     Under the guidance of</a:t>
            </a:r>
          </a:p>
          <a:p>
            <a:pPr algn="just"/>
            <a:r>
              <a:rPr lang="en-IN" sz="1400" b="1" dirty="0">
                <a:latin typeface="Bookman Old Style" panose="02050604050505020204" pitchFamily="18" charset="0"/>
              </a:rPr>
              <a:t>                                                          </a:t>
            </a:r>
            <a:r>
              <a:rPr lang="en-IN" sz="1400" dirty="0">
                <a:latin typeface="Bookman Old Style" panose="02050604050505020204" pitchFamily="18" charset="0"/>
              </a:rPr>
              <a:t>Mr. </a:t>
            </a:r>
            <a:r>
              <a:rPr lang="en-IN" sz="1400" dirty="0" err="1">
                <a:latin typeface="Bookman Old Style" panose="02050604050505020204" pitchFamily="18" charset="0"/>
              </a:rPr>
              <a:t>Darshan.A</a:t>
            </a:r>
            <a:endParaRPr lang="en-IN" sz="1400" dirty="0">
              <a:latin typeface="Bookman Old Style" panose="02050604050505020204" pitchFamily="18" charset="0"/>
            </a:endParaRPr>
          </a:p>
          <a:p>
            <a:pPr algn="just"/>
            <a:r>
              <a:rPr lang="en-IN" sz="1400" dirty="0">
                <a:latin typeface="Bookman Old Style" panose="02050604050505020204" pitchFamily="18" charset="0"/>
              </a:rPr>
              <a:t>                                                             Assistant Professor</a:t>
            </a:r>
          </a:p>
          <a:p>
            <a:pPr algn="just"/>
            <a:r>
              <a:rPr lang="en-IN" sz="1400" dirty="0">
                <a:latin typeface="Bookman Old Style" panose="02050604050505020204" pitchFamily="18" charset="0"/>
              </a:rPr>
              <a:t>                                                             Dept of AI&amp;DS </a:t>
            </a:r>
          </a:p>
        </p:txBody>
      </p:sp>
      <p:pic>
        <p:nvPicPr>
          <p:cNvPr id="7" name="Picture 6">
            <a:extLst>
              <a:ext uri="{FF2B5EF4-FFF2-40B4-BE49-F238E27FC236}">
                <a16:creationId xmlns:a16="http://schemas.microsoft.com/office/drawing/2014/main" id="{E5931698-5777-F5CF-BD43-BDE8C8974E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290" y="162271"/>
            <a:ext cx="11849877" cy="2051510"/>
          </a:xfrm>
          <a:prstGeom prst="rect">
            <a:avLst/>
          </a:prstGeom>
        </p:spPr>
      </p:pic>
    </p:spTree>
    <p:extLst>
      <p:ext uri="{BB962C8B-B14F-4D97-AF65-F5344CB8AC3E}">
        <p14:creationId xmlns:p14="http://schemas.microsoft.com/office/powerpoint/2010/main" val="445235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01D2-05BF-80A1-223D-9C698D2EF730}"/>
              </a:ext>
            </a:extLst>
          </p:cNvPr>
          <p:cNvSpPr>
            <a:spLocks noGrp="1"/>
          </p:cNvSpPr>
          <p:nvPr>
            <p:ph type="ctrTitle"/>
          </p:nvPr>
        </p:nvSpPr>
        <p:spPr>
          <a:xfrm>
            <a:off x="242595" y="-550506"/>
            <a:ext cx="11112759" cy="1539551"/>
          </a:xfrm>
        </p:spPr>
        <p:txBody>
          <a:bodyPr>
            <a:normAutofit/>
          </a:bodyPr>
          <a:lstStyle/>
          <a:p>
            <a:r>
              <a:rPr lang="en-IN" sz="4400" b="1" dirty="0"/>
              <a:t>ABSTRACT</a:t>
            </a:r>
          </a:p>
        </p:txBody>
      </p:sp>
      <p:sp>
        <p:nvSpPr>
          <p:cNvPr id="3" name="Subtitle 2">
            <a:extLst>
              <a:ext uri="{FF2B5EF4-FFF2-40B4-BE49-F238E27FC236}">
                <a16:creationId xmlns:a16="http://schemas.microsoft.com/office/drawing/2014/main" id="{E86EC1CC-E083-03FB-D9AB-ABFA8B2349A9}"/>
              </a:ext>
            </a:extLst>
          </p:cNvPr>
          <p:cNvSpPr>
            <a:spLocks noGrp="1"/>
          </p:cNvSpPr>
          <p:nvPr>
            <p:ph type="subTitle" idx="1"/>
          </p:nvPr>
        </p:nvSpPr>
        <p:spPr>
          <a:xfrm>
            <a:off x="569169" y="1259633"/>
            <a:ext cx="11112758" cy="4516015"/>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The stock market plays a vital role in the economy, and predicting a real-world challenge. By comparing multiple Algorithms, we can find the most efficient algorithm for predicting future stock prices, which makes our project unique and valuable. </a:t>
            </a:r>
          </a:p>
          <a:p>
            <a:pPr algn="just">
              <a:lnSpc>
                <a:spcPct val="150000"/>
              </a:lnSpc>
            </a:pPr>
            <a:r>
              <a:rPr lang="en-US" dirty="0">
                <a:latin typeface="Times New Roman" panose="02020603050405020304" pitchFamily="18" charset="0"/>
                <a:cs typeface="Times New Roman" panose="02020603050405020304" pitchFamily="18" charset="0"/>
              </a:rPr>
              <a:t>Stock prices change every day and are hard to predict. In this project, different AI algorithms such as Linear Regression, Random forest, prophet and LSTM are compared to find which one predicts better. </a:t>
            </a:r>
          </a:p>
        </p:txBody>
      </p:sp>
    </p:spTree>
    <p:extLst>
      <p:ext uri="{BB962C8B-B14F-4D97-AF65-F5344CB8AC3E}">
        <p14:creationId xmlns:p14="http://schemas.microsoft.com/office/powerpoint/2010/main" val="3268350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2DBB-94D2-EADA-68B6-7943AFD3641B}"/>
              </a:ext>
            </a:extLst>
          </p:cNvPr>
          <p:cNvSpPr>
            <a:spLocks noGrp="1"/>
          </p:cNvSpPr>
          <p:nvPr>
            <p:ph type="ctrTitle"/>
          </p:nvPr>
        </p:nvSpPr>
        <p:spPr>
          <a:xfrm>
            <a:off x="1524000" y="251927"/>
            <a:ext cx="9144000" cy="774440"/>
          </a:xfrm>
        </p:spPr>
        <p:txBody>
          <a:bodyPr>
            <a:normAutofit/>
          </a:bodyPr>
          <a:lstStyle/>
          <a:p>
            <a:r>
              <a:rPr lang="en-IN" sz="4400" b="1" dirty="0"/>
              <a:t>PROBLEM STATEMENT</a:t>
            </a:r>
          </a:p>
        </p:txBody>
      </p:sp>
      <p:sp>
        <p:nvSpPr>
          <p:cNvPr id="3" name="Subtitle 2">
            <a:extLst>
              <a:ext uri="{FF2B5EF4-FFF2-40B4-BE49-F238E27FC236}">
                <a16:creationId xmlns:a16="http://schemas.microsoft.com/office/drawing/2014/main" id="{9CB4A515-BC37-F673-7702-B604CBC97FF7}"/>
              </a:ext>
            </a:extLst>
          </p:cNvPr>
          <p:cNvSpPr>
            <a:spLocks noGrp="1"/>
          </p:cNvSpPr>
          <p:nvPr>
            <p:ph type="subTitle" idx="1"/>
          </p:nvPr>
        </p:nvSpPr>
        <p:spPr>
          <a:xfrm>
            <a:off x="1524001" y="1688841"/>
            <a:ext cx="9144000" cy="3617032"/>
          </a:xfrm>
        </p:spPr>
        <p:txBody>
          <a:bodyPr>
            <a:normAutofit/>
          </a:bodyPr>
          <a:lstStyle/>
          <a:p>
            <a:pPr algn="just">
              <a:lnSpc>
                <a:spcPct val="160000"/>
              </a:lnSpc>
            </a:pPr>
            <a:r>
              <a:rPr lang="en-US" dirty="0"/>
              <a:t>The stock market is unpredictable, making price forecasting a big challenge. This project uses and compares different algorithms to predict stock prices. After testing models like LSTM, Random Forest, Prophet and Linear Regression.</a:t>
            </a:r>
            <a:endParaRPr lang="en-IN" dirty="0"/>
          </a:p>
        </p:txBody>
      </p:sp>
    </p:spTree>
    <p:extLst>
      <p:ext uri="{BB962C8B-B14F-4D97-AF65-F5344CB8AC3E}">
        <p14:creationId xmlns:p14="http://schemas.microsoft.com/office/powerpoint/2010/main" val="2404054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951B-C85D-FB47-57F1-EEDC095C99F5}"/>
              </a:ext>
            </a:extLst>
          </p:cNvPr>
          <p:cNvSpPr>
            <a:spLocks noGrp="1"/>
          </p:cNvSpPr>
          <p:nvPr>
            <p:ph type="title"/>
          </p:nvPr>
        </p:nvSpPr>
        <p:spPr>
          <a:xfrm>
            <a:off x="4693298" y="65314"/>
            <a:ext cx="5579706" cy="793102"/>
          </a:xfrm>
        </p:spPr>
        <p:txBody>
          <a:bodyPr>
            <a:normAutofit/>
          </a:bodyPr>
          <a:lstStyle/>
          <a:p>
            <a:r>
              <a:rPr lang="en-IN" b="1" dirty="0"/>
              <a:t>OBJECTIVES</a:t>
            </a:r>
          </a:p>
        </p:txBody>
      </p:sp>
      <p:sp>
        <p:nvSpPr>
          <p:cNvPr id="3" name="Content Placeholder 2">
            <a:extLst>
              <a:ext uri="{FF2B5EF4-FFF2-40B4-BE49-F238E27FC236}">
                <a16:creationId xmlns:a16="http://schemas.microsoft.com/office/drawing/2014/main" id="{B615420C-E894-4326-6A09-D7DDA7F2BB4F}"/>
              </a:ext>
            </a:extLst>
          </p:cNvPr>
          <p:cNvSpPr>
            <a:spLocks noGrp="1"/>
          </p:cNvSpPr>
          <p:nvPr>
            <p:ph idx="1"/>
          </p:nvPr>
        </p:nvSpPr>
        <p:spPr>
          <a:xfrm>
            <a:off x="1380931" y="1231642"/>
            <a:ext cx="8892074" cy="4627270"/>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To analyze historical stock market data and identify patterns or trends that influence stock prices.</a:t>
            </a:r>
          </a:p>
          <a:p>
            <a:pPr algn="just">
              <a:lnSpc>
                <a:spcPct val="150000"/>
              </a:lnSpc>
            </a:pPr>
            <a:r>
              <a:rPr lang="en-US" sz="2400" dirty="0">
                <a:latin typeface="Times New Roman" panose="02020603050405020304" pitchFamily="18" charset="0"/>
                <a:cs typeface="Times New Roman" panose="02020603050405020304" pitchFamily="18" charset="0"/>
              </a:rPr>
              <a:t>To determine which algorithm provides the most accurate and reliable stock price predictions. </a:t>
            </a:r>
          </a:p>
          <a:p>
            <a:pPr algn="just">
              <a:lnSpc>
                <a:spcPct val="150000"/>
              </a:lnSpc>
            </a:pPr>
            <a:r>
              <a:rPr lang="en-US" sz="2400" dirty="0">
                <a:latin typeface="Times New Roman" panose="02020603050405020304" pitchFamily="18" charset="0"/>
                <a:cs typeface="Times New Roman" panose="02020603050405020304" pitchFamily="18" charset="0"/>
              </a:rPr>
              <a:t>Selection of best algorithm for the stock price prediction.</a:t>
            </a:r>
          </a:p>
        </p:txBody>
      </p:sp>
    </p:spTree>
    <p:extLst>
      <p:ext uri="{BB962C8B-B14F-4D97-AF65-F5344CB8AC3E}">
        <p14:creationId xmlns:p14="http://schemas.microsoft.com/office/powerpoint/2010/main" val="718761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25B6A-2C8D-8C99-3C79-94DABD3B1549}"/>
              </a:ext>
            </a:extLst>
          </p:cNvPr>
          <p:cNvSpPr>
            <a:spLocks noGrp="1"/>
          </p:cNvSpPr>
          <p:nvPr>
            <p:ph type="ctrTitle"/>
          </p:nvPr>
        </p:nvSpPr>
        <p:spPr>
          <a:xfrm>
            <a:off x="2032000" y="-293493"/>
            <a:ext cx="7707086" cy="1534464"/>
          </a:xfrm>
        </p:spPr>
        <p:txBody>
          <a:bodyPr>
            <a:normAutofit/>
          </a:bodyPr>
          <a:lstStyle/>
          <a:p>
            <a:r>
              <a:rPr lang="en-US" sz="4400" b="1" dirty="0"/>
              <a:t>TOOLS  AND TECHNOLOGIES</a:t>
            </a:r>
            <a:endParaRPr lang="en-IN" sz="4400" b="1" dirty="0"/>
          </a:p>
        </p:txBody>
      </p:sp>
      <p:graphicFrame>
        <p:nvGraphicFramePr>
          <p:cNvPr id="6" name="Table 6">
            <a:extLst>
              <a:ext uri="{FF2B5EF4-FFF2-40B4-BE49-F238E27FC236}">
                <a16:creationId xmlns:a16="http://schemas.microsoft.com/office/drawing/2014/main" id="{045BDC8F-B985-AC3A-4558-D102ED66A385}"/>
              </a:ext>
            </a:extLst>
          </p:cNvPr>
          <p:cNvGraphicFramePr>
            <a:graphicFrameLocks noGrp="1"/>
          </p:cNvGraphicFramePr>
          <p:nvPr>
            <p:extLst>
              <p:ext uri="{D42A27DB-BD31-4B8C-83A1-F6EECF244321}">
                <p14:modId xmlns:p14="http://schemas.microsoft.com/office/powerpoint/2010/main" val="3048192137"/>
              </p:ext>
            </p:extLst>
          </p:nvPr>
        </p:nvGraphicFramePr>
        <p:xfrm>
          <a:off x="2015412" y="1632857"/>
          <a:ext cx="8144587" cy="3788227"/>
        </p:xfrm>
        <a:graphic>
          <a:graphicData uri="http://schemas.openxmlformats.org/drawingml/2006/table">
            <a:tbl>
              <a:tblPr firstRow="1" bandRow="1">
                <a:tableStyleId>{5940675A-B579-460E-94D1-54222C63F5DA}</a:tableStyleId>
              </a:tblPr>
              <a:tblGrid>
                <a:gridCol w="2725921">
                  <a:extLst>
                    <a:ext uri="{9D8B030D-6E8A-4147-A177-3AD203B41FA5}">
                      <a16:colId xmlns:a16="http://schemas.microsoft.com/office/drawing/2014/main" val="2222961479"/>
                    </a:ext>
                  </a:extLst>
                </a:gridCol>
                <a:gridCol w="2709333">
                  <a:extLst>
                    <a:ext uri="{9D8B030D-6E8A-4147-A177-3AD203B41FA5}">
                      <a16:colId xmlns:a16="http://schemas.microsoft.com/office/drawing/2014/main" val="2583438639"/>
                    </a:ext>
                  </a:extLst>
                </a:gridCol>
                <a:gridCol w="2709333">
                  <a:extLst>
                    <a:ext uri="{9D8B030D-6E8A-4147-A177-3AD203B41FA5}">
                      <a16:colId xmlns:a16="http://schemas.microsoft.com/office/drawing/2014/main" val="202466115"/>
                    </a:ext>
                  </a:extLst>
                </a:gridCol>
              </a:tblGrid>
              <a:tr h="727935">
                <a:tc>
                  <a:txBody>
                    <a:bodyPr/>
                    <a:lstStyle/>
                    <a:p>
                      <a:pPr algn="just"/>
                      <a:r>
                        <a:rPr lang="en-US"/>
                        <a:t>TOOLS</a:t>
                      </a:r>
                      <a:endParaRPr lang="en-IN" dirty="0"/>
                    </a:p>
                  </a:txBody>
                  <a:tcPr/>
                </a:tc>
                <a:tc>
                  <a:txBody>
                    <a:bodyPr/>
                    <a:lstStyle/>
                    <a:p>
                      <a:r>
                        <a:rPr lang="en-US" dirty="0"/>
                        <a:t>LIBRARIES</a:t>
                      </a:r>
                      <a:endParaRPr lang="en-IN" dirty="0"/>
                    </a:p>
                  </a:txBody>
                  <a:tcPr/>
                </a:tc>
                <a:tc>
                  <a:txBody>
                    <a:bodyPr/>
                    <a:lstStyle/>
                    <a:p>
                      <a:r>
                        <a:rPr lang="en-US" dirty="0"/>
                        <a:t>ALGORITHMS</a:t>
                      </a:r>
                      <a:endParaRPr lang="en-IN" dirty="0"/>
                    </a:p>
                  </a:txBody>
                  <a:tcPr/>
                </a:tc>
                <a:extLst>
                  <a:ext uri="{0D108BD9-81ED-4DB2-BD59-A6C34878D82A}">
                    <a16:rowId xmlns:a16="http://schemas.microsoft.com/office/drawing/2014/main" val="2707487001"/>
                  </a:ext>
                </a:extLst>
              </a:tr>
              <a:tr h="765073">
                <a:tc>
                  <a:txBody>
                    <a:bodyPr/>
                    <a:lstStyle/>
                    <a:p>
                      <a:r>
                        <a:rPr lang="en-US" dirty="0"/>
                        <a:t>Eclipse</a:t>
                      </a:r>
                      <a:endParaRPr lang="en-IN" dirty="0"/>
                    </a:p>
                  </a:txBody>
                  <a:tcPr/>
                </a:tc>
                <a:tc>
                  <a:txBody>
                    <a:bodyPr/>
                    <a:lstStyle/>
                    <a:p>
                      <a:r>
                        <a:rPr lang="en-US" dirty="0"/>
                        <a:t>Matplotlib</a:t>
                      </a:r>
                      <a:endParaRPr lang="en-IN" dirty="0"/>
                    </a:p>
                  </a:txBody>
                  <a:tcPr/>
                </a:tc>
                <a:tc>
                  <a:txBody>
                    <a:bodyPr/>
                    <a:lstStyle/>
                    <a:p>
                      <a:r>
                        <a:rPr lang="en-US" dirty="0"/>
                        <a:t>LSTM</a:t>
                      </a:r>
                      <a:endParaRPr lang="en-IN" dirty="0"/>
                    </a:p>
                  </a:txBody>
                  <a:tcPr/>
                </a:tc>
                <a:extLst>
                  <a:ext uri="{0D108BD9-81ED-4DB2-BD59-A6C34878D82A}">
                    <a16:rowId xmlns:a16="http://schemas.microsoft.com/office/drawing/2014/main" val="3487420364"/>
                  </a:ext>
                </a:extLst>
              </a:tr>
              <a:tr h="765073">
                <a:tc>
                  <a:txBody>
                    <a:bodyPr/>
                    <a:lstStyle/>
                    <a:p>
                      <a:r>
                        <a:rPr lang="en-US" dirty="0"/>
                        <a:t>Python</a:t>
                      </a:r>
                      <a:endParaRPr lang="en-IN" dirty="0"/>
                    </a:p>
                  </a:txBody>
                  <a:tcPr/>
                </a:tc>
                <a:tc>
                  <a:txBody>
                    <a:bodyPr/>
                    <a:lstStyle/>
                    <a:p>
                      <a:r>
                        <a:rPr lang="en-US" dirty="0"/>
                        <a:t>NumPy</a:t>
                      </a:r>
                      <a:endParaRPr lang="en-IN" dirty="0"/>
                    </a:p>
                  </a:txBody>
                  <a:tcPr/>
                </a:tc>
                <a:tc>
                  <a:txBody>
                    <a:bodyPr/>
                    <a:lstStyle/>
                    <a:p>
                      <a:r>
                        <a:rPr lang="en-US" dirty="0"/>
                        <a:t>Linear Regression</a:t>
                      </a:r>
                      <a:endParaRPr lang="en-IN" dirty="0"/>
                    </a:p>
                  </a:txBody>
                  <a:tcPr/>
                </a:tc>
                <a:extLst>
                  <a:ext uri="{0D108BD9-81ED-4DB2-BD59-A6C34878D82A}">
                    <a16:rowId xmlns:a16="http://schemas.microsoft.com/office/drawing/2014/main" val="1275636246"/>
                  </a:ext>
                </a:extLst>
              </a:tr>
              <a:tr h="765073">
                <a:tc>
                  <a:txBody>
                    <a:bodyPr/>
                    <a:lstStyle/>
                    <a:p>
                      <a:r>
                        <a:rPr lang="en-US" dirty="0"/>
                        <a:t>Vs code</a:t>
                      </a:r>
                      <a:endParaRPr lang="en-IN" dirty="0"/>
                    </a:p>
                  </a:txBody>
                  <a:tcPr/>
                </a:tc>
                <a:tc>
                  <a:txBody>
                    <a:bodyPr/>
                    <a:lstStyle/>
                    <a:p>
                      <a:r>
                        <a:rPr lang="en-US" dirty="0"/>
                        <a:t>Pandas</a:t>
                      </a:r>
                      <a:endParaRPr lang="en-IN" dirty="0"/>
                    </a:p>
                  </a:txBody>
                  <a:tcPr/>
                </a:tc>
                <a:tc>
                  <a:txBody>
                    <a:bodyPr/>
                    <a:lstStyle/>
                    <a:p>
                      <a:r>
                        <a:rPr lang="en-US" dirty="0"/>
                        <a:t>Random Forest</a:t>
                      </a:r>
                      <a:endParaRPr lang="en-IN" dirty="0"/>
                    </a:p>
                  </a:txBody>
                  <a:tcPr/>
                </a:tc>
                <a:extLst>
                  <a:ext uri="{0D108BD9-81ED-4DB2-BD59-A6C34878D82A}">
                    <a16:rowId xmlns:a16="http://schemas.microsoft.com/office/drawing/2014/main" val="4215256924"/>
                  </a:ext>
                </a:extLst>
              </a:tr>
              <a:tr h="765073">
                <a:tc>
                  <a:txBody>
                    <a:bodyPr/>
                    <a:lstStyle/>
                    <a:p>
                      <a:r>
                        <a:rPr lang="en-US" dirty="0"/>
                        <a:t>Anaconda</a:t>
                      </a:r>
                      <a:endParaRPr lang="en-IN" dirty="0"/>
                    </a:p>
                  </a:txBody>
                  <a:tcPr/>
                </a:tc>
                <a:tc>
                  <a:txBody>
                    <a:bodyPr/>
                    <a:lstStyle/>
                    <a:p>
                      <a:r>
                        <a:rPr lang="en-US" dirty="0"/>
                        <a:t>Scikit</a:t>
                      </a:r>
                      <a:endParaRPr lang="en-IN" dirty="0"/>
                    </a:p>
                  </a:txBody>
                  <a:tcPr/>
                </a:tc>
                <a:tc>
                  <a:txBody>
                    <a:bodyPr/>
                    <a:lstStyle/>
                    <a:p>
                      <a:r>
                        <a:rPr lang="en-US" dirty="0"/>
                        <a:t>Prophet</a:t>
                      </a:r>
                      <a:endParaRPr lang="en-IN" dirty="0"/>
                    </a:p>
                  </a:txBody>
                  <a:tcPr/>
                </a:tc>
                <a:extLst>
                  <a:ext uri="{0D108BD9-81ED-4DB2-BD59-A6C34878D82A}">
                    <a16:rowId xmlns:a16="http://schemas.microsoft.com/office/drawing/2014/main" val="44152"/>
                  </a:ext>
                </a:extLst>
              </a:tr>
            </a:tbl>
          </a:graphicData>
        </a:graphic>
      </p:graphicFrame>
    </p:spTree>
    <p:extLst>
      <p:ext uri="{BB962C8B-B14F-4D97-AF65-F5344CB8AC3E}">
        <p14:creationId xmlns:p14="http://schemas.microsoft.com/office/powerpoint/2010/main" val="2830669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61E4-37E5-E001-A3C3-9DA52F51B147}"/>
              </a:ext>
            </a:extLst>
          </p:cNvPr>
          <p:cNvSpPr>
            <a:spLocks noGrp="1"/>
          </p:cNvSpPr>
          <p:nvPr>
            <p:ph type="ctrTitle"/>
          </p:nvPr>
        </p:nvSpPr>
        <p:spPr>
          <a:xfrm>
            <a:off x="1524000" y="177283"/>
            <a:ext cx="9144000" cy="951722"/>
          </a:xfrm>
        </p:spPr>
        <p:txBody>
          <a:bodyPr>
            <a:normAutofit/>
          </a:bodyPr>
          <a:lstStyle/>
          <a:p>
            <a:r>
              <a:rPr lang="en-IN" sz="4400" b="1" dirty="0"/>
              <a:t>FUTURE ENHANCEMENT</a:t>
            </a:r>
          </a:p>
        </p:txBody>
      </p:sp>
      <p:sp>
        <p:nvSpPr>
          <p:cNvPr id="3" name="Subtitle 2">
            <a:extLst>
              <a:ext uri="{FF2B5EF4-FFF2-40B4-BE49-F238E27FC236}">
                <a16:creationId xmlns:a16="http://schemas.microsoft.com/office/drawing/2014/main" id="{9EBD4351-7A4F-F94A-CC4D-35333C1E344E}"/>
              </a:ext>
            </a:extLst>
          </p:cNvPr>
          <p:cNvSpPr>
            <a:spLocks noGrp="1"/>
          </p:cNvSpPr>
          <p:nvPr>
            <p:ph type="subTitle" idx="1"/>
          </p:nvPr>
        </p:nvSpPr>
        <p:spPr>
          <a:xfrm>
            <a:off x="685800" y="1340573"/>
            <a:ext cx="10704443" cy="4176853"/>
          </a:xfrm>
        </p:spPr>
        <p:txBody>
          <a:bodyPr>
            <a:noAutofit/>
          </a:bodyPr>
          <a:lstStyle/>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the future, the model can be improved by adding real-time data and news analysis to make predictions more accurate.</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More advanced algorithms like Transformers or hybrid models can be used to improve prediction accuracy.</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can be enhanced by including social media and sentiment data to better understand market behavior.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68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10D4B-B616-7164-2287-9C6C326CBCEB}"/>
              </a:ext>
            </a:extLst>
          </p:cNvPr>
          <p:cNvSpPr>
            <a:spLocks noGrp="1"/>
          </p:cNvSpPr>
          <p:nvPr>
            <p:ph type="title"/>
          </p:nvPr>
        </p:nvSpPr>
        <p:spPr>
          <a:xfrm>
            <a:off x="2712721" y="1940561"/>
            <a:ext cx="7383008" cy="2303448"/>
          </a:xfrm>
        </p:spPr>
        <p:txBody>
          <a:bodyPr>
            <a:normAutofit/>
          </a:bodyPr>
          <a:lstStyle/>
          <a:p>
            <a:pPr algn="ctr"/>
            <a:r>
              <a:rPr lang="en-US" sz="6000" b="1" i="1" dirty="0">
                <a:effectLst>
                  <a:outerShdw blurRad="38100" dist="38100" dir="2700000" algn="tl">
                    <a:srgbClr val="000000">
                      <a:alpha val="43137"/>
                    </a:srgbClr>
                  </a:outerShdw>
                </a:effectLst>
                <a:latin typeface="Bookman Old Style" panose="02050604050505020204" pitchFamily="18" charset="0"/>
              </a:rPr>
              <a:t>THANK YOU</a:t>
            </a:r>
          </a:p>
        </p:txBody>
      </p:sp>
    </p:spTree>
    <p:extLst>
      <p:ext uri="{BB962C8B-B14F-4D97-AF65-F5344CB8AC3E}">
        <p14:creationId xmlns:p14="http://schemas.microsoft.com/office/powerpoint/2010/main" val="253944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305</Words>
  <Application>Microsoft Office PowerPoint</Application>
  <PresentationFormat>Widescreen</PresentationFormat>
  <Paragraphs>40</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Bookman Old Style</vt:lpstr>
      <vt:lpstr>Calibri</vt:lpstr>
      <vt:lpstr>Calibri Light</vt:lpstr>
      <vt:lpstr>Times New Roman</vt:lpstr>
      <vt:lpstr>Office Theme</vt:lpstr>
      <vt:lpstr>Comparison of multiple algorithms for stock price prediction based on accuracy</vt:lpstr>
      <vt:lpstr>ABSTRACT</vt:lpstr>
      <vt:lpstr>PROBLEM STATEMENT</vt:lpstr>
      <vt:lpstr>OBJECTIVES</vt:lpstr>
      <vt:lpstr>TOOLS  AND TECHNOLOGIES</vt:lpstr>
      <vt:lpstr>FUTURE ENHANCEMENT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DELL</dc:creator>
  <cp:lastModifiedBy>DELL</cp:lastModifiedBy>
  <cp:revision>12</cp:revision>
  <dcterms:created xsi:type="dcterms:W3CDTF">2025-10-29T17:41:32Z</dcterms:created>
  <dcterms:modified xsi:type="dcterms:W3CDTF">2025-10-30T14:13:58Z</dcterms:modified>
</cp:coreProperties>
</file>